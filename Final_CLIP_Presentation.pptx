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33" d="100"/>
          <a:sy n="33" d="100"/>
        </p:scale>
        <p:origin x="2890" y="6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F5841B-1298-4A4E-8D28-590C8958D2D0}" type="doc">
      <dgm:prSet loTypeId="urn:microsoft.com/office/officeart/2018/2/layout/IconVerticalSolidList" loCatId="icon" qsTypeId="urn:microsoft.com/office/officeart/2005/8/quickstyle/3d4" qsCatId="3D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219729B-DC45-417C-810F-070D9C7454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Images are resized and normalized before being fed into the model.</a:t>
          </a:r>
        </a:p>
      </dgm:t>
    </dgm:pt>
    <dgm:pt modelId="{8A8D28D1-883E-4D75-8E44-0056CE6137BC}" type="parTrans" cxnId="{4F3E3F17-FBA9-4582-A598-7AADD6BFB293}">
      <dgm:prSet/>
      <dgm:spPr/>
      <dgm:t>
        <a:bodyPr/>
        <a:lstStyle/>
        <a:p>
          <a:endParaRPr lang="en-US"/>
        </a:p>
      </dgm:t>
    </dgm:pt>
    <dgm:pt modelId="{C619F938-B593-43A7-B1BF-17567CF59B02}" type="sibTrans" cxnId="{4F3E3F17-FBA9-4582-A598-7AADD6BFB293}">
      <dgm:prSet/>
      <dgm:spPr/>
      <dgm:t>
        <a:bodyPr/>
        <a:lstStyle/>
        <a:p>
          <a:endParaRPr lang="en-US"/>
        </a:p>
      </dgm:t>
    </dgm:pt>
    <dgm:pt modelId="{1D0F4568-7563-4743-9777-61CDFBFCDF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 use a pre-trained </a:t>
          </a:r>
          <a:r>
            <a:rPr lang="en-US" dirty="0" err="1"/>
            <a:t>EfficientNet</a:t>
          </a:r>
          <a:r>
            <a:rPr lang="en-US" dirty="0"/>
            <a:t> as the image encoder.</a:t>
          </a:r>
        </a:p>
      </dgm:t>
    </dgm:pt>
    <dgm:pt modelId="{50BF305F-41FE-4CC9-9789-D685648FFE70}" type="parTrans" cxnId="{743198D2-2182-453D-9ABE-E513EB26E8D5}">
      <dgm:prSet/>
      <dgm:spPr/>
      <dgm:t>
        <a:bodyPr/>
        <a:lstStyle/>
        <a:p>
          <a:endParaRPr lang="en-US"/>
        </a:p>
      </dgm:t>
    </dgm:pt>
    <dgm:pt modelId="{5977B9DC-120B-40FF-83F9-79E364DB68C6}" type="sibTrans" cxnId="{743198D2-2182-453D-9ABE-E513EB26E8D5}">
      <dgm:prSet/>
      <dgm:spPr/>
      <dgm:t>
        <a:bodyPr/>
        <a:lstStyle/>
        <a:p>
          <a:endParaRPr lang="en-US"/>
        </a:p>
      </dgm:t>
    </dgm:pt>
    <dgm:pt modelId="{4C492D1C-1298-4D24-B56E-7A3ABBA39F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classification head is removed.</a:t>
          </a:r>
        </a:p>
      </dgm:t>
    </dgm:pt>
    <dgm:pt modelId="{8FA08155-1C66-4564-9C3A-DF4D593F7BD5}" type="parTrans" cxnId="{EE136E22-2943-4771-85BB-550B304DF6AF}">
      <dgm:prSet/>
      <dgm:spPr/>
      <dgm:t>
        <a:bodyPr/>
        <a:lstStyle/>
        <a:p>
          <a:endParaRPr lang="en-US"/>
        </a:p>
      </dgm:t>
    </dgm:pt>
    <dgm:pt modelId="{E1EFA0B7-A6A6-4F84-9F83-3161B4BA1279}" type="sibTrans" cxnId="{EE136E22-2943-4771-85BB-550B304DF6AF}">
      <dgm:prSet/>
      <dgm:spPr/>
      <dgm:t>
        <a:bodyPr/>
        <a:lstStyle/>
        <a:p>
          <a:endParaRPr lang="en-US"/>
        </a:p>
      </dgm:t>
    </dgm:pt>
    <dgm:pt modelId="{AC0324B7-C3BD-4AAA-89F8-34C9473194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CNN outputs a fixed-length visual feature vector.</a:t>
          </a:r>
        </a:p>
      </dgm:t>
    </dgm:pt>
    <dgm:pt modelId="{8C0AB37B-60C9-4B99-9B21-B4D166C97CF3}" type="parTrans" cxnId="{9CBFCBD8-6963-4F3A-86B8-DB130B360C5D}">
      <dgm:prSet/>
      <dgm:spPr/>
      <dgm:t>
        <a:bodyPr/>
        <a:lstStyle/>
        <a:p>
          <a:endParaRPr lang="en-US"/>
        </a:p>
      </dgm:t>
    </dgm:pt>
    <dgm:pt modelId="{B20B550F-C967-41F8-99DF-0E52D0F6B19C}" type="sibTrans" cxnId="{9CBFCBD8-6963-4F3A-86B8-DB130B360C5D}">
      <dgm:prSet/>
      <dgm:spPr/>
      <dgm:t>
        <a:bodyPr/>
        <a:lstStyle/>
        <a:p>
          <a:endParaRPr lang="en-US"/>
        </a:p>
      </dgm:t>
    </dgm:pt>
    <dgm:pt modelId="{CAEE7CFE-BFE8-46A0-8610-D4355923D58A}" type="pres">
      <dgm:prSet presAssocID="{E4F5841B-1298-4A4E-8D28-590C8958D2D0}" presName="root" presStyleCnt="0">
        <dgm:presLayoutVars>
          <dgm:dir/>
          <dgm:resizeHandles val="exact"/>
        </dgm:presLayoutVars>
      </dgm:prSet>
      <dgm:spPr/>
    </dgm:pt>
    <dgm:pt modelId="{B0DC9315-6141-4A05-9D8C-410A276B6AB2}" type="pres">
      <dgm:prSet presAssocID="{E219729B-DC45-417C-810F-070D9C745498}" presName="compNode" presStyleCnt="0"/>
      <dgm:spPr/>
    </dgm:pt>
    <dgm:pt modelId="{4D9EED8D-75CD-41C7-AB15-14A33D35FF8B}" type="pres">
      <dgm:prSet presAssocID="{E219729B-DC45-417C-810F-070D9C745498}" presName="bgRect" presStyleLbl="bgShp" presStyleIdx="0" presStyleCnt="4"/>
      <dgm:spPr/>
    </dgm:pt>
    <dgm:pt modelId="{7108E577-0DBA-40DE-B1E5-2249CDCC4169}" type="pres">
      <dgm:prSet presAssocID="{E219729B-DC45-417C-810F-070D9C74549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áblázat"/>
        </a:ext>
      </dgm:extLst>
    </dgm:pt>
    <dgm:pt modelId="{25C33CBE-4672-4C43-A438-140B87BADFDA}" type="pres">
      <dgm:prSet presAssocID="{E219729B-DC45-417C-810F-070D9C745498}" presName="spaceRect" presStyleCnt="0"/>
      <dgm:spPr/>
    </dgm:pt>
    <dgm:pt modelId="{C3287E96-77F9-4060-967C-658A6B1B3CDC}" type="pres">
      <dgm:prSet presAssocID="{E219729B-DC45-417C-810F-070D9C745498}" presName="parTx" presStyleLbl="revTx" presStyleIdx="0" presStyleCnt="4">
        <dgm:presLayoutVars>
          <dgm:chMax val="0"/>
          <dgm:chPref val="0"/>
        </dgm:presLayoutVars>
      </dgm:prSet>
      <dgm:spPr/>
    </dgm:pt>
    <dgm:pt modelId="{CDD45FF3-11DA-4C47-8389-541158B26B98}" type="pres">
      <dgm:prSet presAssocID="{C619F938-B593-43A7-B1BF-17567CF59B02}" presName="sibTrans" presStyleCnt="0"/>
      <dgm:spPr/>
    </dgm:pt>
    <dgm:pt modelId="{4FC31919-26A5-40D8-BC88-F5892FB6D031}" type="pres">
      <dgm:prSet presAssocID="{1D0F4568-7563-4743-9777-61CDFBFCDF4A}" presName="compNode" presStyleCnt="0"/>
      <dgm:spPr/>
    </dgm:pt>
    <dgm:pt modelId="{AA64CB13-C711-4209-99A8-82EA03E52117}" type="pres">
      <dgm:prSet presAssocID="{1D0F4568-7563-4743-9777-61CDFBFCDF4A}" presName="bgRect" presStyleLbl="bgShp" presStyleIdx="1" presStyleCnt="4"/>
      <dgm:spPr/>
    </dgm:pt>
    <dgm:pt modelId="{0BAB22AF-72EB-4B35-96BA-9046F1D9CD4F}" type="pres">
      <dgm:prSet presAssocID="{1D0F4568-7563-4743-9777-61CDFBFCDF4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onalkód"/>
        </a:ext>
      </dgm:extLst>
    </dgm:pt>
    <dgm:pt modelId="{1160FB4B-F23D-4269-B33E-E57E3C172FBE}" type="pres">
      <dgm:prSet presAssocID="{1D0F4568-7563-4743-9777-61CDFBFCDF4A}" presName="spaceRect" presStyleCnt="0"/>
      <dgm:spPr/>
    </dgm:pt>
    <dgm:pt modelId="{80B65539-A8BE-40A3-817D-E6599EC430B2}" type="pres">
      <dgm:prSet presAssocID="{1D0F4568-7563-4743-9777-61CDFBFCDF4A}" presName="parTx" presStyleLbl="revTx" presStyleIdx="1" presStyleCnt="4">
        <dgm:presLayoutVars>
          <dgm:chMax val="0"/>
          <dgm:chPref val="0"/>
        </dgm:presLayoutVars>
      </dgm:prSet>
      <dgm:spPr/>
    </dgm:pt>
    <dgm:pt modelId="{C7AD88A0-622F-4513-B9F0-29C23CD79891}" type="pres">
      <dgm:prSet presAssocID="{5977B9DC-120B-40FF-83F9-79E364DB68C6}" presName="sibTrans" presStyleCnt="0"/>
      <dgm:spPr/>
    </dgm:pt>
    <dgm:pt modelId="{AA962AFF-D4A9-4C43-9E2D-51F2E0A875D0}" type="pres">
      <dgm:prSet presAssocID="{4C492D1C-1298-4D24-B56E-7A3ABBA39FE3}" presName="compNode" presStyleCnt="0"/>
      <dgm:spPr/>
    </dgm:pt>
    <dgm:pt modelId="{78747AD6-FCFB-404D-BE89-B381FB0212A3}" type="pres">
      <dgm:prSet presAssocID="{4C492D1C-1298-4D24-B56E-7A3ABBA39FE3}" presName="bgRect" presStyleLbl="bgShp" presStyleIdx="2" presStyleCnt="4"/>
      <dgm:spPr/>
    </dgm:pt>
    <dgm:pt modelId="{0B6CFDAA-0158-47F9-BBB7-4EBE80D7DB8E}" type="pres">
      <dgm:prSet presAssocID="{4C492D1C-1298-4D24-B56E-7A3ABBA39FE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ia"/>
        </a:ext>
      </dgm:extLst>
    </dgm:pt>
    <dgm:pt modelId="{FF98BFA8-5FE4-4AEE-AE8D-CB2883F48848}" type="pres">
      <dgm:prSet presAssocID="{4C492D1C-1298-4D24-B56E-7A3ABBA39FE3}" presName="spaceRect" presStyleCnt="0"/>
      <dgm:spPr/>
    </dgm:pt>
    <dgm:pt modelId="{FF63F381-F005-43FB-9BC6-1351425ADC44}" type="pres">
      <dgm:prSet presAssocID="{4C492D1C-1298-4D24-B56E-7A3ABBA39FE3}" presName="parTx" presStyleLbl="revTx" presStyleIdx="2" presStyleCnt="4">
        <dgm:presLayoutVars>
          <dgm:chMax val="0"/>
          <dgm:chPref val="0"/>
        </dgm:presLayoutVars>
      </dgm:prSet>
      <dgm:spPr/>
    </dgm:pt>
    <dgm:pt modelId="{ECEF0107-9C66-47D9-A285-2E3F8CB1A308}" type="pres">
      <dgm:prSet presAssocID="{E1EFA0B7-A6A6-4F84-9F83-3161B4BA1279}" presName="sibTrans" presStyleCnt="0"/>
      <dgm:spPr/>
    </dgm:pt>
    <dgm:pt modelId="{E729FDCB-75E5-4FC1-8DC9-0E8C1BB6B515}" type="pres">
      <dgm:prSet presAssocID="{AC0324B7-C3BD-4AAA-89F8-34C947319479}" presName="compNode" presStyleCnt="0"/>
      <dgm:spPr/>
    </dgm:pt>
    <dgm:pt modelId="{FED93CD0-3F54-40B0-88A0-F3F62026ADA2}" type="pres">
      <dgm:prSet presAssocID="{AC0324B7-C3BD-4AAA-89F8-34C947319479}" presName="bgRect" presStyleLbl="bgShp" presStyleIdx="3" presStyleCnt="4"/>
      <dgm:spPr/>
    </dgm:pt>
    <dgm:pt modelId="{CB3E68D9-CDB8-4B94-A600-4510D21A5ADD}" type="pres">
      <dgm:prSet presAssocID="{AC0324B7-C3BD-4AAA-89F8-34C94731947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ponenciális grafikon körvonalas"/>
        </a:ext>
      </dgm:extLst>
    </dgm:pt>
    <dgm:pt modelId="{D9867D47-9C19-4C92-B3EF-1B056CDC86A1}" type="pres">
      <dgm:prSet presAssocID="{AC0324B7-C3BD-4AAA-89F8-34C947319479}" presName="spaceRect" presStyleCnt="0"/>
      <dgm:spPr/>
    </dgm:pt>
    <dgm:pt modelId="{0CE5CBF0-BAC8-4C11-BD07-D836526BDA4A}" type="pres">
      <dgm:prSet presAssocID="{AC0324B7-C3BD-4AAA-89F8-34C94731947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F3E3F17-FBA9-4582-A598-7AADD6BFB293}" srcId="{E4F5841B-1298-4A4E-8D28-590C8958D2D0}" destId="{E219729B-DC45-417C-810F-070D9C745498}" srcOrd="0" destOrd="0" parTransId="{8A8D28D1-883E-4D75-8E44-0056CE6137BC}" sibTransId="{C619F938-B593-43A7-B1BF-17567CF59B02}"/>
    <dgm:cxn modelId="{EE136E22-2943-4771-85BB-550B304DF6AF}" srcId="{E4F5841B-1298-4A4E-8D28-590C8958D2D0}" destId="{4C492D1C-1298-4D24-B56E-7A3ABBA39FE3}" srcOrd="2" destOrd="0" parTransId="{8FA08155-1C66-4564-9C3A-DF4D593F7BD5}" sibTransId="{E1EFA0B7-A6A6-4F84-9F83-3161B4BA1279}"/>
    <dgm:cxn modelId="{F0E66F35-6D6A-4002-9B87-7BC699100334}" type="presOf" srcId="{E219729B-DC45-417C-810F-070D9C745498}" destId="{C3287E96-77F9-4060-967C-658A6B1B3CDC}" srcOrd="0" destOrd="0" presId="urn:microsoft.com/office/officeart/2018/2/layout/IconVerticalSolidList"/>
    <dgm:cxn modelId="{DFC04E5A-CEB1-428A-908C-9BF00A1DEBE4}" type="presOf" srcId="{E4F5841B-1298-4A4E-8D28-590C8958D2D0}" destId="{CAEE7CFE-BFE8-46A0-8610-D4355923D58A}" srcOrd="0" destOrd="0" presId="urn:microsoft.com/office/officeart/2018/2/layout/IconVerticalSolidList"/>
    <dgm:cxn modelId="{7BF1775A-DF53-4799-8A9D-064200C3987A}" type="presOf" srcId="{1D0F4568-7563-4743-9777-61CDFBFCDF4A}" destId="{80B65539-A8BE-40A3-817D-E6599EC430B2}" srcOrd="0" destOrd="0" presId="urn:microsoft.com/office/officeart/2018/2/layout/IconVerticalSolidList"/>
    <dgm:cxn modelId="{978E2298-C8AB-4F40-8113-39CC57EBAAA8}" type="presOf" srcId="{4C492D1C-1298-4D24-B56E-7A3ABBA39FE3}" destId="{FF63F381-F005-43FB-9BC6-1351425ADC44}" srcOrd="0" destOrd="0" presId="urn:microsoft.com/office/officeart/2018/2/layout/IconVerticalSolidList"/>
    <dgm:cxn modelId="{743198D2-2182-453D-9ABE-E513EB26E8D5}" srcId="{E4F5841B-1298-4A4E-8D28-590C8958D2D0}" destId="{1D0F4568-7563-4743-9777-61CDFBFCDF4A}" srcOrd="1" destOrd="0" parTransId="{50BF305F-41FE-4CC9-9789-D685648FFE70}" sibTransId="{5977B9DC-120B-40FF-83F9-79E364DB68C6}"/>
    <dgm:cxn modelId="{9CBFCBD8-6963-4F3A-86B8-DB130B360C5D}" srcId="{E4F5841B-1298-4A4E-8D28-590C8958D2D0}" destId="{AC0324B7-C3BD-4AAA-89F8-34C947319479}" srcOrd="3" destOrd="0" parTransId="{8C0AB37B-60C9-4B99-9B21-B4D166C97CF3}" sibTransId="{B20B550F-C967-41F8-99DF-0E52D0F6B19C}"/>
    <dgm:cxn modelId="{A7B11EDD-F39C-45BD-AC3F-1D1E716FB59E}" type="presOf" srcId="{AC0324B7-C3BD-4AAA-89F8-34C947319479}" destId="{0CE5CBF0-BAC8-4C11-BD07-D836526BDA4A}" srcOrd="0" destOrd="0" presId="urn:microsoft.com/office/officeart/2018/2/layout/IconVerticalSolidList"/>
    <dgm:cxn modelId="{7B12D611-2797-42EC-B6B2-F913E385BE86}" type="presParOf" srcId="{CAEE7CFE-BFE8-46A0-8610-D4355923D58A}" destId="{B0DC9315-6141-4A05-9D8C-410A276B6AB2}" srcOrd="0" destOrd="0" presId="urn:microsoft.com/office/officeart/2018/2/layout/IconVerticalSolidList"/>
    <dgm:cxn modelId="{0A2DEC64-2450-4B29-9DBD-D63568D25305}" type="presParOf" srcId="{B0DC9315-6141-4A05-9D8C-410A276B6AB2}" destId="{4D9EED8D-75CD-41C7-AB15-14A33D35FF8B}" srcOrd="0" destOrd="0" presId="urn:microsoft.com/office/officeart/2018/2/layout/IconVerticalSolidList"/>
    <dgm:cxn modelId="{384AFA3A-CE6A-42A7-B09B-D60E17AF1285}" type="presParOf" srcId="{B0DC9315-6141-4A05-9D8C-410A276B6AB2}" destId="{7108E577-0DBA-40DE-B1E5-2249CDCC4169}" srcOrd="1" destOrd="0" presId="urn:microsoft.com/office/officeart/2018/2/layout/IconVerticalSolidList"/>
    <dgm:cxn modelId="{A6DE9A3C-D16C-4C3B-AF1E-452028BA19E9}" type="presParOf" srcId="{B0DC9315-6141-4A05-9D8C-410A276B6AB2}" destId="{25C33CBE-4672-4C43-A438-140B87BADFDA}" srcOrd="2" destOrd="0" presId="urn:microsoft.com/office/officeart/2018/2/layout/IconVerticalSolidList"/>
    <dgm:cxn modelId="{12060211-21A3-454F-8752-CF5147655639}" type="presParOf" srcId="{B0DC9315-6141-4A05-9D8C-410A276B6AB2}" destId="{C3287E96-77F9-4060-967C-658A6B1B3CDC}" srcOrd="3" destOrd="0" presId="urn:microsoft.com/office/officeart/2018/2/layout/IconVerticalSolidList"/>
    <dgm:cxn modelId="{6B105CD1-FE3B-4C9C-903E-5ECB84F2734A}" type="presParOf" srcId="{CAEE7CFE-BFE8-46A0-8610-D4355923D58A}" destId="{CDD45FF3-11DA-4C47-8389-541158B26B98}" srcOrd="1" destOrd="0" presId="urn:microsoft.com/office/officeart/2018/2/layout/IconVerticalSolidList"/>
    <dgm:cxn modelId="{66307182-0EF2-40A5-AD18-1CB3EA1A484F}" type="presParOf" srcId="{CAEE7CFE-BFE8-46A0-8610-D4355923D58A}" destId="{4FC31919-26A5-40D8-BC88-F5892FB6D031}" srcOrd="2" destOrd="0" presId="urn:microsoft.com/office/officeart/2018/2/layout/IconVerticalSolidList"/>
    <dgm:cxn modelId="{0547D258-949A-4FA8-A50B-ECE816B70AA8}" type="presParOf" srcId="{4FC31919-26A5-40D8-BC88-F5892FB6D031}" destId="{AA64CB13-C711-4209-99A8-82EA03E52117}" srcOrd="0" destOrd="0" presId="urn:microsoft.com/office/officeart/2018/2/layout/IconVerticalSolidList"/>
    <dgm:cxn modelId="{8B3E7C84-547F-475B-8C5D-9D10F290456E}" type="presParOf" srcId="{4FC31919-26A5-40D8-BC88-F5892FB6D031}" destId="{0BAB22AF-72EB-4B35-96BA-9046F1D9CD4F}" srcOrd="1" destOrd="0" presId="urn:microsoft.com/office/officeart/2018/2/layout/IconVerticalSolidList"/>
    <dgm:cxn modelId="{9600C30D-BDCA-4693-B80E-E2DE6EEB6D7C}" type="presParOf" srcId="{4FC31919-26A5-40D8-BC88-F5892FB6D031}" destId="{1160FB4B-F23D-4269-B33E-E57E3C172FBE}" srcOrd="2" destOrd="0" presId="urn:microsoft.com/office/officeart/2018/2/layout/IconVerticalSolidList"/>
    <dgm:cxn modelId="{F4295291-0679-4D39-ABBC-0DEC5FB6E765}" type="presParOf" srcId="{4FC31919-26A5-40D8-BC88-F5892FB6D031}" destId="{80B65539-A8BE-40A3-817D-E6599EC430B2}" srcOrd="3" destOrd="0" presId="urn:microsoft.com/office/officeart/2018/2/layout/IconVerticalSolidList"/>
    <dgm:cxn modelId="{748F2221-B3D2-47E9-A48F-FA2E9EAC0379}" type="presParOf" srcId="{CAEE7CFE-BFE8-46A0-8610-D4355923D58A}" destId="{C7AD88A0-622F-4513-B9F0-29C23CD79891}" srcOrd="3" destOrd="0" presId="urn:microsoft.com/office/officeart/2018/2/layout/IconVerticalSolidList"/>
    <dgm:cxn modelId="{F26C591E-4052-49E0-A05F-2D7E96C9B2B2}" type="presParOf" srcId="{CAEE7CFE-BFE8-46A0-8610-D4355923D58A}" destId="{AA962AFF-D4A9-4C43-9E2D-51F2E0A875D0}" srcOrd="4" destOrd="0" presId="urn:microsoft.com/office/officeart/2018/2/layout/IconVerticalSolidList"/>
    <dgm:cxn modelId="{E5207550-60CB-41A4-B472-3F90987AD4E4}" type="presParOf" srcId="{AA962AFF-D4A9-4C43-9E2D-51F2E0A875D0}" destId="{78747AD6-FCFB-404D-BE89-B381FB0212A3}" srcOrd="0" destOrd="0" presId="urn:microsoft.com/office/officeart/2018/2/layout/IconVerticalSolidList"/>
    <dgm:cxn modelId="{9E947037-186C-47E2-B336-42BE091466EE}" type="presParOf" srcId="{AA962AFF-D4A9-4C43-9E2D-51F2E0A875D0}" destId="{0B6CFDAA-0158-47F9-BBB7-4EBE80D7DB8E}" srcOrd="1" destOrd="0" presId="urn:microsoft.com/office/officeart/2018/2/layout/IconVerticalSolidList"/>
    <dgm:cxn modelId="{AE60DC81-92A6-40F6-951B-ADF35A211701}" type="presParOf" srcId="{AA962AFF-D4A9-4C43-9E2D-51F2E0A875D0}" destId="{FF98BFA8-5FE4-4AEE-AE8D-CB2883F48848}" srcOrd="2" destOrd="0" presId="urn:microsoft.com/office/officeart/2018/2/layout/IconVerticalSolidList"/>
    <dgm:cxn modelId="{47163940-8E98-4C48-863B-47D2EEABDD93}" type="presParOf" srcId="{AA962AFF-D4A9-4C43-9E2D-51F2E0A875D0}" destId="{FF63F381-F005-43FB-9BC6-1351425ADC44}" srcOrd="3" destOrd="0" presId="urn:microsoft.com/office/officeart/2018/2/layout/IconVerticalSolidList"/>
    <dgm:cxn modelId="{D339B471-FA63-4B72-9C03-435A4AC48695}" type="presParOf" srcId="{CAEE7CFE-BFE8-46A0-8610-D4355923D58A}" destId="{ECEF0107-9C66-47D9-A285-2E3F8CB1A308}" srcOrd="5" destOrd="0" presId="urn:microsoft.com/office/officeart/2018/2/layout/IconVerticalSolidList"/>
    <dgm:cxn modelId="{FE56B25A-4171-4DBC-A549-3EE6F4ADE6BB}" type="presParOf" srcId="{CAEE7CFE-BFE8-46A0-8610-D4355923D58A}" destId="{E729FDCB-75E5-4FC1-8DC9-0E8C1BB6B515}" srcOrd="6" destOrd="0" presId="urn:microsoft.com/office/officeart/2018/2/layout/IconVerticalSolidList"/>
    <dgm:cxn modelId="{C717F010-EA5C-4DC4-AFA7-44D962EA75AC}" type="presParOf" srcId="{E729FDCB-75E5-4FC1-8DC9-0E8C1BB6B515}" destId="{FED93CD0-3F54-40B0-88A0-F3F62026ADA2}" srcOrd="0" destOrd="0" presId="urn:microsoft.com/office/officeart/2018/2/layout/IconVerticalSolidList"/>
    <dgm:cxn modelId="{8CEC810E-EDAD-4369-AA7E-74DEFE362844}" type="presParOf" srcId="{E729FDCB-75E5-4FC1-8DC9-0E8C1BB6B515}" destId="{CB3E68D9-CDB8-4B94-A600-4510D21A5ADD}" srcOrd="1" destOrd="0" presId="urn:microsoft.com/office/officeart/2018/2/layout/IconVerticalSolidList"/>
    <dgm:cxn modelId="{931F6637-1ECA-4345-B77A-1EE3554E6F04}" type="presParOf" srcId="{E729FDCB-75E5-4FC1-8DC9-0E8C1BB6B515}" destId="{D9867D47-9C19-4C92-B3EF-1B056CDC86A1}" srcOrd="2" destOrd="0" presId="urn:microsoft.com/office/officeart/2018/2/layout/IconVerticalSolidList"/>
    <dgm:cxn modelId="{CFA49AD1-0833-48EA-9274-121D23068853}" type="presParOf" srcId="{E729FDCB-75E5-4FC1-8DC9-0E8C1BB6B515}" destId="{0CE5CBF0-BAC8-4C11-BD07-D836526BDA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F5841B-1298-4A4E-8D28-590C8958D2D0}" type="doc">
      <dgm:prSet loTypeId="urn:microsoft.com/office/officeart/2018/2/layout/IconVerticalSolidList" loCatId="icon" qsTypeId="urn:microsoft.com/office/officeart/2005/8/quickstyle/3d4" qsCatId="3D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219729B-DC45-417C-810F-070D9C7454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Images are resized and normalized before being fed into the model.</a:t>
          </a:r>
        </a:p>
      </dgm:t>
    </dgm:pt>
    <dgm:pt modelId="{8A8D28D1-883E-4D75-8E44-0056CE6137BC}" type="parTrans" cxnId="{4F3E3F17-FBA9-4582-A598-7AADD6BFB293}">
      <dgm:prSet/>
      <dgm:spPr/>
      <dgm:t>
        <a:bodyPr/>
        <a:lstStyle/>
        <a:p>
          <a:endParaRPr lang="en-US"/>
        </a:p>
      </dgm:t>
    </dgm:pt>
    <dgm:pt modelId="{C619F938-B593-43A7-B1BF-17567CF59B02}" type="sibTrans" cxnId="{4F3E3F17-FBA9-4582-A598-7AADD6BFB293}">
      <dgm:prSet/>
      <dgm:spPr/>
      <dgm:t>
        <a:bodyPr/>
        <a:lstStyle/>
        <a:p>
          <a:endParaRPr lang="en-US"/>
        </a:p>
      </dgm:t>
    </dgm:pt>
    <dgm:pt modelId="{1D0F4568-7563-4743-9777-61CDFBFCDF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 use a pre-trained </a:t>
          </a:r>
          <a:r>
            <a:rPr lang="en-US" dirty="0" err="1"/>
            <a:t>EfficientNet</a:t>
          </a:r>
          <a:r>
            <a:rPr lang="en-US" dirty="0"/>
            <a:t> as the image encoder.</a:t>
          </a:r>
        </a:p>
      </dgm:t>
    </dgm:pt>
    <dgm:pt modelId="{50BF305F-41FE-4CC9-9789-D685648FFE70}" type="parTrans" cxnId="{743198D2-2182-453D-9ABE-E513EB26E8D5}">
      <dgm:prSet/>
      <dgm:spPr/>
      <dgm:t>
        <a:bodyPr/>
        <a:lstStyle/>
        <a:p>
          <a:endParaRPr lang="en-US"/>
        </a:p>
      </dgm:t>
    </dgm:pt>
    <dgm:pt modelId="{5977B9DC-120B-40FF-83F9-79E364DB68C6}" type="sibTrans" cxnId="{743198D2-2182-453D-9ABE-E513EB26E8D5}">
      <dgm:prSet/>
      <dgm:spPr/>
      <dgm:t>
        <a:bodyPr/>
        <a:lstStyle/>
        <a:p>
          <a:endParaRPr lang="en-US"/>
        </a:p>
      </dgm:t>
    </dgm:pt>
    <dgm:pt modelId="{4C492D1C-1298-4D24-B56E-7A3ABBA39F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classification head is removed.</a:t>
          </a:r>
        </a:p>
      </dgm:t>
    </dgm:pt>
    <dgm:pt modelId="{8FA08155-1C66-4564-9C3A-DF4D593F7BD5}" type="parTrans" cxnId="{EE136E22-2943-4771-85BB-550B304DF6AF}">
      <dgm:prSet/>
      <dgm:spPr/>
      <dgm:t>
        <a:bodyPr/>
        <a:lstStyle/>
        <a:p>
          <a:endParaRPr lang="en-US"/>
        </a:p>
      </dgm:t>
    </dgm:pt>
    <dgm:pt modelId="{E1EFA0B7-A6A6-4F84-9F83-3161B4BA1279}" type="sibTrans" cxnId="{EE136E22-2943-4771-85BB-550B304DF6AF}">
      <dgm:prSet/>
      <dgm:spPr/>
      <dgm:t>
        <a:bodyPr/>
        <a:lstStyle/>
        <a:p>
          <a:endParaRPr lang="en-US"/>
        </a:p>
      </dgm:t>
    </dgm:pt>
    <dgm:pt modelId="{AC0324B7-C3BD-4AAA-89F8-34C9473194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CNN outputs a fixed-length visual feature vector.</a:t>
          </a:r>
        </a:p>
      </dgm:t>
    </dgm:pt>
    <dgm:pt modelId="{8C0AB37B-60C9-4B99-9B21-B4D166C97CF3}" type="parTrans" cxnId="{9CBFCBD8-6963-4F3A-86B8-DB130B360C5D}">
      <dgm:prSet/>
      <dgm:spPr/>
      <dgm:t>
        <a:bodyPr/>
        <a:lstStyle/>
        <a:p>
          <a:endParaRPr lang="en-US"/>
        </a:p>
      </dgm:t>
    </dgm:pt>
    <dgm:pt modelId="{B20B550F-C967-41F8-99DF-0E52D0F6B19C}" type="sibTrans" cxnId="{9CBFCBD8-6963-4F3A-86B8-DB130B360C5D}">
      <dgm:prSet/>
      <dgm:spPr/>
      <dgm:t>
        <a:bodyPr/>
        <a:lstStyle/>
        <a:p>
          <a:endParaRPr lang="en-US"/>
        </a:p>
      </dgm:t>
    </dgm:pt>
    <dgm:pt modelId="{CAEE7CFE-BFE8-46A0-8610-D4355923D58A}" type="pres">
      <dgm:prSet presAssocID="{E4F5841B-1298-4A4E-8D28-590C8958D2D0}" presName="root" presStyleCnt="0">
        <dgm:presLayoutVars>
          <dgm:dir/>
          <dgm:resizeHandles val="exact"/>
        </dgm:presLayoutVars>
      </dgm:prSet>
      <dgm:spPr/>
    </dgm:pt>
    <dgm:pt modelId="{B0DC9315-6141-4A05-9D8C-410A276B6AB2}" type="pres">
      <dgm:prSet presAssocID="{E219729B-DC45-417C-810F-070D9C745498}" presName="compNode" presStyleCnt="0"/>
      <dgm:spPr/>
    </dgm:pt>
    <dgm:pt modelId="{4D9EED8D-75CD-41C7-AB15-14A33D35FF8B}" type="pres">
      <dgm:prSet presAssocID="{E219729B-DC45-417C-810F-070D9C745498}" presName="bgRect" presStyleLbl="bgShp" presStyleIdx="0" presStyleCnt="4"/>
      <dgm:spPr/>
    </dgm:pt>
    <dgm:pt modelId="{7108E577-0DBA-40DE-B1E5-2249CDCC4169}" type="pres">
      <dgm:prSet presAssocID="{E219729B-DC45-417C-810F-070D9C74549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áblázat"/>
        </a:ext>
      </dgm:extLst>
    </dgm:pt>
    <dgm:pt modelId="{25C33CBE-4672-4C43-A438-140B87BADFDA}" type="pres">
      <dgm:prSet presAssocID="{E219729B-DC45-417C-810F-070D9C745498}" presName="spaceRect" presStyleCnt="0"/>
      <dgm:spPr/>
    </dgm:pt>
    <dgm:pt modelId="{C3287E96-77F9-4060-967C-658A6B1B3CDC}" type="pres">
      <dgm:prSet presAssocID="{E219729B-DC45-417C-810F-070D9C745498}" presName="parTx" presStyleLbl="revTx" presStyleIdx="0" presStyleCnt="4">
        <dgm:presLayoutVars>
          <dgm:chMax val="0"/>
          <dgm:chPref val="0"/>
        </dgm:presLayoutVars>
      </dgm:prSet>
      <dgm:spPr/>
    </dgm:pt>
    <dgm:pt modelId="{CDD45FF3-11DA-4C47-8389-541158B26B98}" type="pres">
      <dgm:prSet presAssocID="{C619F938-B593-43A7-B1BF-17567CF59B02}" presName="sibTrans" presStyleCnt="0"/>
      <dgm:spPr/>
    </dgm:pt>
    <dgm:pt modelId="{4FC31919-26A5-40D8-BC88-F5892FB6D031}" type="pres">
      <dgm:prSet presAssocID="{1D0F4568-7563-4743-9777-61CDFBFCDF4A}" presName="compNode" presStyleCnt="0"/>
      <dgm:spPr/>
    </dgm:pt>
    <dgm:pt modelId="{AA64CB13-C711-4209-99A8-82EA03E52117}" type="pres">
      <dgm:prSet presAssocID="{1D0F4568-7563-4743-9777-61CDFBFCDF4A}" presName="bgRect" presStyleLbl="bgShp" presStyleIdx="1" presStyleCnt="4"/>
      <dgm:spPr/>
    </dgm:pt>
    <dgm:pt modelId="{0BAB22AF-72EB-4B35-96BA-9046F1D9CD4F}" type="pres">
      <dgm:prSet presAssocID="{1D0F4568-7563-4743-9777-61CDFBFCDF4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onalkód"/>
        </a:ext>
      </dgm:extLst>
    </dgm:pt>
    <dgm:pt modelId="{1160FB4B-F23D-4269-B33E-E57E3C172FBE}" type="pres">
      <dgm:prSet presAssocID="{1D0F4568-7563-4743-9777-61CDFBFCDF4A}" presName="spaceRect" presStyleCnt="0"/>
      <dgm:spPr/>
    </dgm:pt>
    <dgm:pt modelId="{80B65539-A8BE-40A3-817D-E6599EC430B2}" type="pres">
      <dgm:prSet presAssocID="{1D0F4568-7563-4743-9777-61CDFBFCDF4A}" presName="parTx" presStyleLbl="revTx" presStyleIdx="1" presStyleCnt="4">
        <dgm:presLayoutVars>
          <dgm:chMax val="0"/>
          <dgm:chPref val="0"/>
        </dgm:presLayoutVars>
      </dgm:prSet>
      <dgm:spPr/>
    </dgm:pt>
    <dgm:pt modelId="{C7AD88A0-622F-4513-B9F0-29C23CD79891}" type="pres">
      <dgm:prSet presAssocID="{5977B9DC-120B-40FF-83F9-79E364DB68C6}" presName="sibTrans" presStyleCnt="0"/>
      <dgm:spPr/>
    </dgm:pt>
    <dgm:pt modelId="{AA962AFF-D4A9-4C43-9E2D-51F2E0A875D0}" type="pres">
      <dgm:prSet presAssocID="{4C492D1C-1298-4D24-B56E-7A3ABBA39FE3}" presName="compNode" presStyleCnt="0"/>
      <dgm:spPr/>
    </dgm:pt>
    <dgm:pt modelId="{78747AD6-FCFB-404D-BE89-B381FB0212A3}" type="pres">
      <dgm:prSet presAssocID="{4C492D1C-1298-4D24-B56E-7A3ABBA39FE3}" presName="bgRect" presStyleLbl="bgShp" presStyleIdx="2" presStyleCnt="4"/>
      <dgm:spPr/>
    </dgm:pt>
    <dgm:pt modelId="{0B6CFDAA-0158-47F9-BBB7-4EBE80D7DB8E}" type="pres">
      <dgm:prSet presAssocID="{4C492D1C-1298-4D24-B56E-7A3ABBA39FE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ia"/>
        </a:ext>
      </dgm:extLst>
    </dgm:pt>
    <dgm:pt modelId="{FF98BFA8-5FE4-4AEE-AE8D-CB2883F48848}" type="pres">
      <dgm:prSet presAssocID="{4C492D1C-1298-4D24-B56E-7A3ABBA39FE3}" presName="spaceRect" presStyleCnt="0"/>
      <dgm:spPr/>
    </dgm:pt>
    <dgm:pt modelId="{FF63F381-F005-43FB-9BC6-1351425ADC44}" type="pres">
      <dgm:prSet presAssocID="{4C492D1C-1298-4D24-B56E-7A3ABBA39FE3}" presName="parTx" presStyleLbl="revTx" presStyleIdx="2" presStyleCnt="4">
        <dgm:presLayoutVars>
          <dgm:chMax val="0"/>
          <dgm:chPref val="0"/>
        </dgm:presLayoutVars>
      </dgm:prSet>
      <dgm:spPr/>
    </dgm:pt>
    <dgm:pt modelId="{ECEF0107-9C66-47D9-A285-2E3F8CB1A308}" type="pres">
      <dgm:prSet presAssocID="{E1EFA0B7-A6A6-4F84-9F83-3161B4BA1279}" presName="sibTrans" presStyleCnt="0"/>
      <dgm:spPr/>
    </dgm:pt>
    <dgm:pt modelId="{E729FDCB-75E5-4FC1-8DC9-0E8C1BB6B515}" type="pres">
      <dgm:prSet presAssocID="{AC0324B7-C3BD-4AAA-89F8-34C947319479}" presName="compNode" presStyleCnt="0"/>
      <dgm:spPr/>
    </dgm:pt>
    <dgm:pt modelId="{FED93CD0-3F54-40B0-88A0-F3F62026ADA2}" type="pres">
      <dgm:prSet presAssocID="{AC0324B7-C3BD-4AAA-89F8-34C947319479}" presName="bgRect" presStyleLbl="bgShp" presStyleIdx="3" presStyleCnt="4"/>
      <dgm:spPr/>
    </dgm:pt>
    <dgm:pt modelId="{CB3E68D9-CDB8-4B94-A600-4510D21A5ADD}" type="pres">
      <dgm:prSet presAssocID="{AC0324B7-C3BD-4AAA-89F8-34C94731947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ponenciális grafikon körvonalas"/>
        </a:ext>
      </dgm:extLst>
    </dgm:pt>
    <dgm:pt modelId="{D9867D47-9C19-4C92-B3EF-1B056CDC86A1}" type="pres">
      <dgm:prSet presAssocID="{AC0324B7-C3BD-4AAA-89F8-34C947319479}" presName="spaceRect" presStyleCnt="0"/>
      <dgm:spPr/>
    </dgm:pt>
    <dgm:pt modelId="{0CE5CBF0-BAC8-4C11-BD07-D836526BDA4A}" type="pres">
      <dgm:prSet presAssocID="{AC0324B7-C3BD-4AAA-89F8-34C94731947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F3E3F17-FBA9-4582-A598-7AADD6BFB293}" srcId="{E4F5841B-1298-4A4E-8D28-590C8958D2D0}" destId="{E219729B-DC45-417C-810F-070D9C745498}" srcOrd="0" destOrd="0" parTransId="{8A8D28D1-883E-4D75-8E44-0056CE6137BC}" sibTransId="{C619F938-B593-43A7-B1BF-17567CF59B02}"/>
    <dgm:cxn modelId="{EE136E22-2943-4771-85BB-550B304DF6AF}" srcId="{E4F5841B-1298-4A4E-8D28-590C8958D2D0}" destId="{4C492D1C-1298-4D24-B56E-7A3ABBA39FE3}" srcOrd="2" destOrd="0" parTransId="{8FA08155-1C66-4564-9C3A-DF4D593F7BD5}" sibTransId="{E1EFA0B7-A6A6-4F84-9F83-3161B4BA1279}"/>
    <dgm:cxn modelId="{F0E66F35-6D6A-4002-9B87-7BC699100334}" type="presOf" srcId="{E219729B-DC45-417C-810F-070D9C745498}" destId="{C3287E96-77F9-4060-967C-658A6B1B3CDC}" srcOrd="0" destOrd="0" presId="urn:microsoft.com/office/officeart/2018/2/layout/IconVerticalSolidList"/>
    <dgm:cxn modelId="{DFC04E5A-CEB1-428A-908C-9BF00A1DEBE4}" type="presOf" srcId="{E4F5841B-1298-4A4E-8D28-590C8958D2D0}" destId="{CAEE7CFE-BFE8-46A0-8610-D4355923D58A}" srcOrd="0" destOrd="0" presId="urn:microsoft.com/office/officeart/2018/2/layout/IconVerticalSolidList"/>
    <dgm:cxn modelId="{7BF1775A-DF53-4799-8A9D-064200C3987A}" type="presOf" srcId="{1D0F4568-7563-4743-9777-61CDFBFCDF4A}" destId="{80B65539-A8BE-40A3-817D-E6599EC430B2}" srcOrd="0" destOrd="0" presId="urn:microsoft.com/office/officeart/2018/2/layout/IconVerticalSolidList"/>
    <dgm:cxn modelId="{978E2298-C8AB-4F40-8113-39CC57EBAAA8}" type="presOf" srcId="{4C492D1C-1298-4D24-B56E-7A3ABBA39FE3}" destId="{FF63F381-F005-43FB-9BC6-1351425ADC44}" srcOrd="0" destOrd="0" presId="urn:microsoft.com/office/officeart/2018/2/layout/IconVerticalSolidList"/>
    <dgm:cxn modelId="{743198D2-2182-453D-9ABE-E513EB26E8D5}" srcId="{E4F5841B-1298-4A4E-8D28-590C8958D2D0}" destId="{1D0F4568-7563-4743-9777-61CDFBFCDF4A}" srcOrd="1" destOrd="0" parTransId="{50BF305F-41FE-4CC9-9789-D685648FFE70}" sibTransId="{5977B9DC-120B-40FF-83F9-79E364DB68C6}"/>
    <dgm:cxn modelId="{9CBFCBD8-6963-4F3A-86B8-DB130B360C5D}" srcId="{E4F5841B-1298-4A4E-8D28-590C8958D2D0}" destId="{AC0324B7-C3BD-4AAA-89F8-34C947319479}" srcOrd="3" destOrd="0" parTransId="{8C0AB37B-60C9-4B99-9B21-B4D166C97CF3}" sibTransId="{B20B550F-C967-41F8-99DF-0E52D0F6B19C}"/>
    <dgm:cxn modelId="{A7B11EDD-F39C-45BD-AC3F-1D1E716FB59E}" type="presOf" srcId="{AC0324B7-C3BD-4AAA-89F8-34C947319479}" destId="{0CE5CBF0-BAC8-4C11-BD07-D836526BDA4A}" srcOrd="0" destOrd="0" presId="urn:microsoft.com/office/officeart/2018/2/layout/IconVerticalSolidList"/>
    <dgm:cxn modelId="{7B12D611-2797-42EC-B6B2-F913E385BE86}" type="presParOf" srcId="{CAEE7CFE-BFE8-46A0-8610-D4355923D58A}" destId="{B0DC9315-6141-4A05-9D8C-410A276B6AB2}" srcOrd="0" destOrd="0" presId="urn:microsoft.com/office/officeart/2018/2/layout/IconVerticalSolidList"/>
    <dgm:cxn modelId="{0A2DEC64-2450-4B29-9DBD-D63568D25305}" type="presParOf" srcId="{B0DC9315-6141-4A05-9D8C-410A276B6AB2}" destId="{4D9EED8D-75CD-41C7-AB15-14A33D35FF8B}" srcOrd="0" destOrd="0" presId="urn:microsoft.com/office/officeart/2018/2/layout/IconVerticalSolidList"/>
    <dgm:cxn modelId="{384AFA3A-CE6A-42A7-B09B-D60E17AF1285}" type="presParOf" srcId="{B0DC9315-6141-4A05-9D8C-410A276B6AB2}" destId="{7108E577-0DBA-40DE-B1E5-2249CDCC4169}" srcOrd="1" destOrd="0" presId="urn:microsoft.com/office/officeart/2018/2/layout/IconVerticalSolidList"/>
    <dgm:cxn modelId="{A6DE9A3C-D16C-4C3B-AF1E-452028BA19E9}" type="presParOf" srcId="{B0DC9315-6141-4A05-9D8C-410A276B6AB2}" destId="{25C33CBE-4672-4C43-A438-140B87BADFDA}" srcOrd="2" destOrd="0" presId="urn:microsoft.com/office/officeart/2018/2/layout/IconVerticalSolidList"/>
    <dgm:cxn modelId="{12060211-21A3-454F-8752-CF5147655639}" type="presParOf" srcId="{B0DC9315-6141-4A05-9D8C-410A276B6AB2}" destId="{C3287E96-77F9-4060-967C-658A6B1B3CDC}" srcOrd="3" destOrd="0" presId="urn:microsoft.com/office/officeart/2018/2/layout/IconVerticalSolidList"/>
    <dgm:cxn modelId="{6B105CD1-FE3B-4C9C-903E-5ECB84F2734A}" type="presParOf" srcId="{CAEE7CFE-BFE8-46A0-8610-D4355923D58A}" destId="{CDD45FF3-11DA-4C47-8389-541158B26B98}" srcOrd="1" destOrd="0" presId="urn:microsoft.com/office/officeart/2018/2/layout/IconVerticalSolidList"/>
    <dgm:cxn modelId="{66307182-0EF2-40A5-AD18-1CB3EA1A484F}" type="presParOf" srcId="{CAEE7CFE-BFE8-46A0-8610-D4355923D58A}" destId="{4FC31919-26A5-40D8-BC88-F5892FB6D031}" srcOrd="2" destOrd="0" presId="urn:microsoft.com/office/officeart/2018/2/layout/IconVerticalSolidList"/>
    <dgm:cxn modelId="{0547D258-949A-4FA8-A50B-ECE816B70AA8}" type="presParOf" srcId="{4FC31919-26A5-40D8-BC88-F5892FB6D031}" destId="{AA64CB13-C711-4209-99A8-82EA03E52117}" srcOrd="0" destOrd="0" presId="urn:microsoft.com/office/officeart/2018/2/layout/IconVerticalSolidList"/>
    <dgm:cxn modelId="{8B3E7C84-547F-475B-8C5D-9D10F290456E}" type="presParOf" srcId="{4FC31919-26A5-40D8-BC88-F5892FB6D031}" destId="{0BAB22AF-72EB-4B35-96BA-9046F1D9CD4F}" srcOrd="1" destOrd="0" presId="urn:microsoft.com/office/officeart/2018/2/layout/IconVerticalSolidList"/>
    <dgm:cxn modelId="{9600C30D-BDCA-4693-B80E-E2DE6EEB6D7C}" type="presParOf" srcId="{4FC31919-26A5-40D8-BC88-F5892FB6D031}" destId="{1160FB4B-F23D-4269-B33E-E57E3C172FBE}" srcOrd="2" destOrd="0" presId="urn:microsoft.com/office/officeart/2018/2/layout/IconVerticalSolidList"/>
    <dgm:cxn modelId="{F4295291-0679-4D39-ABBC-0DEC5FB6E765}" type="presParOf" srcId="{4FC31919-26A5-40D8-BC88-F5892FB6D031}" destId="{80B65539-A8BE-40A3-817D-E6599EC430B2}" srcOrd="3" destOrd="0" presId="urn:microsoft.com/office/officeart/2018/2/layout/IconVerticalSolidList"/>
    <dgm:cxn modelId="{748F2221-B3D2-47E9-A48F-FA2E9EAC0379}" type="presParOf" srcId="{CAEE7CFE-BFE8-46A0-8610-D4355923D58A}" destId="{C7AD88A0-622F-4513-B9F0-29C23CD79891}" srcOrd="3" destOrd="0" presId="urn:microsoft.com/office/officeart/2018/2/layout/IconVerticalSolidList"/>
    <dgm:cxn modelId="{F26C591E-4052-49E0-A05F-2D7E96C9B2B2}" type="presParOf" srcId="{CAEE7CFE-BFE8-46A0-8610-D4355923D58A}" destId="{AA962AFF-D4A9-4C43-9E2D-51F2E0A875D0}" srcOrd="4" destOrd="0" presId="urn:microsoft.com/office/officeart/2018/2/layout/IconVerticalSolidList"/>
    <dgm:cxn modelId="{E5207550-60CB-41A4-B472-3F90987AD4E4}" type="presParOf" srcId="{AA962AFF-D4A9-4C43-9E2D-51F2E0A875D0}" destId="{78747AD6-FCFB-404D-BE89-B381FB0212A3}" srcOrd="0" destOrd="0" presId="urn:microsoft.com/office/officeart/2018/2/layout/IconVerticalSolidList"/>
    <dgm:cxn modelId="{9E947037-186C-47E2-B336-42BE091466EE}" type="presParOf" srcId="{AA962AFF-D4A9-4C43-9E2D-51F2E0A875D0}" destId="{0B6CFDAA-0158-47F9-BBB7-4EBE80D7DB8E}" srcOrd="1" destOrd="0" presId="urn:microsoft.com/office/officeart/2018/2/layout/IconVerticalSolidList"/>
    <dgm:cxn modelId="{AE60DC81-92A6-40F6-951B-ADF35A211701}" type="presParOf" srcId="{AA962AFF-D4A9-4C43-9E2D-51F2E0A875D0}" destId="{FF98BFA8-5FE4-4AEE-AE8D-CB2883F48848}" srcOrd="2" destOrd="0" presId="urn:microsoft.com/office/officeart/2018/2/layout/IconVerticalSolidList"/>
    <dgm:cxn modelId="{47163940-8E98-4C48-863B-47D2EEABDD93}" type="presParOf" srcId="{AA962AFF-D4A9-4C43-9E2D-51F2E0A875D0}" destId="{FF63F381-F005-43FB-9BC6-1351425ADC44}" srcOrd="3" destOrd="0" presId="urn:microsoft.com/office/officeart/2018/2/layout/IconVerticalSolidList"/>
    <dgm:cxn modelId="{D339B471-FA63-4B72-9C03-435A4AC48695}" type="presParOf" srcId="{CAEE7CFE-BFE8-46A0-8610-D4355923D58A}" destId="{ECEF0107-9C66-47D9-A285-2E3F8CB1A308}" srcOrd="5" destOrd="0" presId="urn:microsoft.com/office/officeart/2018/2/layout/IconVerticalSolidList"/>
    <dgm:cxn modelId="{FE56B25A-4171-4DBC-A549-3EE6F4ADE6BB}" type="presParOf" srcId="{CAEE7CFE-BFE8-46A0-8610-D4355923D58A}" destId="{E729FDCB-75E5-4FC1-8DC9-0E8C1BB6B515}" srcOrd="6" destOrd="0" presId="urn:microsoft.com/office/officeart/2018/2/layout/IconVerticalSolidList"/>
    <dgm:cxn modelId="{C717F010-EA5C-4DC4-AFA7-44D962EA75AC}" type="presParOf" srcId="{E729FDCB-75E5-4FC1-8DC9-0E8C1BB6B515}" destId="{FED93CD0-3F54-40B0-88A0-F3F62026ADA2}" srcOrd="0" destOrd="0" presId="urn:microsoft.com/office/officeart/2018/2/layout/IconVerticalSolidList"/>
    <dgm:cxn modelId="{8CEC810E-EDAD-4369-AA7E-74DEFE362844}" type="presParOf" srcId="{E729FDCB-75E5-4FC1-8DC9-0E8C1BB6B515}" destId="{CB3E68D9-CDB8-4B94-A600-4510D21A5ADD}" srcOrd="1" destOrd="0" presId="urn:microsoft.com/office/officeart/2018/2/layout/IconVerticalSolidList"/>
    <dgm:cxn modelId="{931F6637-1ECA-4345-B77A-1EE3554E6F04}" type="presParOf" srcId="{E729FDCB-75E5-4FC1-8DC9-0E8C1BB6B515}" destId="{D9867D47-9C19-4C92-B3EF-1B056CDC86A1}" srcOrd="2" destOrd="0" presId="urn:microsoft.com/office/officeart/2018/2/layout/IconVerticalSolidList"/>
    <dgm:cxn modelId="{CFA49AD1-0833-48EA-9274-121D23068853}" type="presParOf" srcId="{E729FDCB-75E5-4FC1-8DC9-0E8C1BB6B515}" destId="{0CE5CBF0-BAC8-4C11-BD07-D836526BDA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4F5841B-1298-4A4E-8D28-590C8958D2D0}" type="doc">
      <dgm:prSet loTypeId="urn:microsoft.com/office/officeart/2018/2/layout/IconVerticalSolidList" loCatId="icon" qsTypeId="urn:microsoft.com/office/officeart/2005/8/quickstyle/3d4" qsCatId="3D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219729B-DC45-417C-810F-070D9C7454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Images are resized and normalized before being fed into the model.</a:t>
          </a:r>
        </a:p>
      </dgm:t>
    </dgm:pt>
    <dgm:pt modelId="{8A8D28D1-883E-4D75-8E44-0056CE6137BC}" type="parTrans" cxnId="{4F3E3F17-FBA9-4582-A598-7AADD6BFB293}">
      <dgm:prSet/>
      <dgm:spPr/>
      <dgm:t>
        <a:bodyPr/>
        <a:lstStyle/>
        <a:p>
          <a:endParaRPr lang="en-US"/>
        </a:p>
      </dgm:t>
    </dgm:pt>
    <dgm:pt modelId="{C619F938-B593-43A7-B1BF-17567CF59B02}" type="sibTrans" cxnId="{4F3E3F17-FBA9-4582-A598-7AADD6BFB293}">
      <dgm:prSet/>
      <dgm:spPr/>
      <dgm:t>
        <a:bodyPr/>
        <a:lstStyle/>
        <a:p>
          <a:endParaRPr lang="en-US"/>
        </a:p>
      </dgm:t>
    </dgm:pt>
    <dgm:pt modelId="{1D0F4568-7563-4743-9777-61CDFBFCDF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 use a pre-trained </a:t>
          </a:r>
          <a:r>
            <a:rPr lang="en-US" dirty="0" err="1"/>
            <a:t>EfficientNet</a:t>
          </a:r>
          <a:r>
            <a:rPr lang="en-US" dirty="0"/>
            <a:t> as the image encoder.</a:t>
          </a:r>
        </a:p>
      </dgm:t>
    </dgm:pt>
    <dgm:pt modelId="{50BF305F-41FE-4CC9-9789-D685648FFE70}" type="parTrans" cxnId="{743198D2-2182-453D-9ABE-E513EB26E8D5}">
      <dgm:prSet/>
      <dgm:spPr/>
      <dgm:t>
        <a:bodyPr/>
        <a:lstStyle/>
        <a:p>
          <a:endParaRPr lang="en-US"/>
        </a:p>
      </dgm:t>
    </dgm:pt>
    <dgm:pt modelId="{5977B9DC-120B-40FF-83F9-79E364DB68C6}" type="sibTrans" cxnId="{743198D2-2182-453D-9ABE-E513EB26E8D5}">
      <dgm:prSet/>
      <dgm:spPr/>
      <dgm:t>
        <a:bodyPr/>
        <a:lstStyle/>
        <a:p>
          <a:endParaRPr lang="en-US"/>
        </a:p>
      </dgm:t>
    </dgm:pt>
    <dgm:pt modelId="{4C492D1C-1298-4D24-B56E-7A3ABBA39F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classification head is removed.</a:t>
          </a:r>
        </a:p>
      </dgm:t>
    </dgm:pt>
    <dgm:pt modelId="{8FA08155-1C66-4564-9C3A-DF4D593F7BD5}" type="parTrans" cxnId="{EE136E22-2943-4771-85BB-550B304DF6AF}">
      <dgm:prSet/>
      <dgm:spPr/>
      <dgm:t>
        <a:bodyPr/>
        <a:lstStyle/>
        <a:p>
          <a:endParaRPr lang="en-US"/>
        </a:p>
      </dgm:t>
    </dgm:pt>
    <dgm:pt modelId="{E1EFA0B7-A6A6-4F84-9F83-3161B4BA1279}" type="sibTrans" cxnId="{EE136E22-2943-4771-85BB-550B304DF6AF}">
      <dgm:prSet/>
      <dgm:spPr/>
      <dgm:t>
        <a:bodyPr/>
        <a:lstStyle/>
        <a:p>
          <a:endParaRPr lang="en-US"/>
        </a:p>
      </dgm:t>
    </dgm:pt>
    <dgm:pt modelId="{AC0324B7-C3BD-4AAA-89F8-34C9473194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CNN outputs a fixed-length visual feature vector.</a:t>
          </a:r>
        </a:p>
      </dgm:t>
    </dgm:pt>
    <dgm:pt modelId="{8C0AB37B-60C9-4B99-9B21-B4D166C97CF3}" type="parTrans" cxnId="{9CBFCBD8-6963-4F3A-86B8-DB130B360C5D}">
      <dgm:prSet/>
      <dgm:spPr/>
      <dgm:t>
        <a:bodyPr/>
        <a:lstStyle/>
        <a:p>
          <a:endParaRPr lang="en-US"/>
        </a:p>
      </dgm:t>
    </dgm:pt>
    <dgm:pt modelId="{B20B550F-C967-41F8-99DF-0E52D0F6B19C}" type="sibTrans" cxnId="{9CBFCBD8-6963-4F3A-86B8-DB130B360C5D}">
      <dgm:prSet/>
      <dgm:spPr/>
      <dgm:t>
        <a:bodyPr/>
        <a:lstStyle/>
        <a:p>
          <a:endParaRPr lang="en-US"/>
        </a:p>
      </dgm:t>
    </dgm:pt>
    <dgm:pt modelId="{CAEE7CFE-BFE8-46A0-8610-D4355923D58A}" type="pres">
      <dgm:prSet presAssocID="{E4F5841B-1298-4A4E-8D28-590C8958D2D0}" presName="root" presStyleCnt="0">
        <dgm:presLayoutVars>
          <dgm:dir/>
          <dgm:resizeHandles val="exact"/>
        </dgm:presLayoutVars>
      </dgm:prSet>
      <dgm:spPr/>
    </dgm:pt>
    <dgm:pt modelId="{B0DC9315-6141-4A05-9D8C-410A276B6AB2}" type="pres">
      <dgm:prSet presAssocID="{E219729B-DC45-417C-810F-070D9C745498}" presName="compNode" presStyleCnt="0"/>
      <dgm:spPr/>
    </dgm:pt>
    <dgm:pt modelId="{4D9EED8D-75CD-41C7-AB15-14A33D35FF8B}" type="pres">
      <dgm:prSet presAssocID="{E219729B-DC45-417C-810F-070D9C745498}" presName="bgRect" presStyleLbl="bgShp" presStyleIdx="0" presStyleCnt="4"/>
      <dgm:spPr/>
    </dgm:pt>
    <dgm:pt modelId="{7108E577-0DBA-40DE-B1E5-2249CDCC4169}" type="pres">
      <dgm:prSet presAssocID="{E219729B-DC45-417C-810F-070D9C74549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áblázat"/>
        </a:ext>
      </dgm:extLst>
    </dgm:pt>
    <dgm:pt modelId="{25C33CBE-4672-4C43-A438-140B87BADFDA}" type="pres">
      <dgm:prSet presAssocID="{E219729B-DC45-417C-810F-070D9C745498}" presName="spaceRect" presStyleCnt="0"/>
      <dgm:spPr/>
    </dgm:pt>
    <dgm:pt modelId="{C3287E96-77F9-4060-967C-658A6B1B3CDC}" type="pres">
      <dgm:prSet presAssocID="{E219729B-DC45-417C-810F-070D9C745498}" presName="parTx" presStyleLbl="revTx" presStyleIdx="0" presStyleCnt="4">
        <dgm:presLayoutVars>
          <dgm:chMax val="0"/>
          <dgm:chPref val="0"/>
        </dgm:presLayoutVars>
      </dgm:prSet>
      <dgm:spPr/>
    </dgm:pt>
    <dgm:pt modelId="{CDD45FF3-11DA-4C47-8389-541158B26B98}" type="pres">
      <dgm:prSet presAssocID="{C619F938-B593-43A7-B1BF-17567CF59B02}" presName="sibTrans" presStyleCnt="0"/>
      <dgm:spPr/>
    </dgm:pt>
    <dgm:pt modelId="{4FC31919-26A5-40D8-BC88-F5892FB6D031}" type="pres">
      <dgm:prSet presAssocID="{1D0F4568-7563-4743-9777-61CDFBFCDF4A}" presName="compNode" presStyleCnt="0"/>
      <dgm:spPr/>
    </dgm:pt>
    <dgm:pt modelId="{AA64CB13-C711-4209-99A8-82EA03E52117}" type="pres">
      <dgm:prSet presAssocID="{1D0F4568-7563-4743-9777-61CDFBFCDF4A}" presName="bgRect" presStyleLbl="bgShp" presStyleIdx="1" presStyleCnt="4"/>
      <dgm:spPr/>
    </dgm:pt>
    <dgm:pt modelId="{0BAB22AF-72EB-4B35-96BA-9046F1D9CD4F}" type="pres">
      <dgm:prSet presAssocID="{1D0F4568-7563-4743-9777-61CDFBFCDF4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onalkód"/>
        </a:ext>
      </dgm:extLst>
    </dgm:pt>
    <dgm:pt modelId="{1160FB4B-F23D-4269-B33E-E57E3C172FBE}" type="pres">
      <dgm:prSet presAssocID="{1D0F4568-7563-4743-9777-61CDFBFCDF4A}" presName="spaceRect" presStyleCnt="0"/>
      <dgm:spPr/>
    </dgm:pt>
    <dgm:pt modelId="{80B65539-A8BE-40A3-817D-E6599EC430B2}" type="pres">
      <dgm:prSet presAssocID="{1D0F4568-7563-4743-9777-61CDFBFCDF4A}" presName="parTx" presStyleLbl="revTx" presStyleIdx="1" presStyleCnt="4">
        <dgm:presLayoutVars>
          <dgm:chMax val="0"/>
          <dgm:chPref val="0"/>
        </dgm:presLayoutVars>
      </dgm:prSet>
      <dgm:spPr/>
    </dgm:pt>
    <dgm:pt modelId="{C7AD88A0-622F-4513-B9F0-29C23CD79891}" type="pres">
      <dgm:prSet presAssocID="{5977B9DC-120B-40FF-83F9-79E364DB68C6}" presName="sibTrans" presStyleCnt="0"/>
      <dgm:spPr/>
    </dgm:pt>
    <dgm:pt modelId="{AA962AFF-D4A9-4C43-9E2D-51F2E0A875D0}" type="pres">
      <dgm:prSet presAssocID="{4C492D1C-1298-4D24-B56E-7A3ABBA39FE3}" presName="compNode" presStyleCnt="0"/>
      <dgm:spPr/>
    </dgm:pt>
    <dgm:pt modelId="{78747AD6-FCFB-404D-BE89-B381FB0212A3}" type="pres">
      <dgm:prSet presAssocID="{4C492D1C-1298-4D24-B56E-7A3ABBA39FE3}" presName="bgRect" presStyleLbl="bgShp" presStyleIdx="2" presStyleCnt="4"/>
      <dgm:spPr/>
    </dgm:pt>
    <dgm:pt modelId="{0B6CFDAA-0158-47F9-BBB7-4EBE80D7DB8E}" type="pres">
      <dgm:prSet presAssocID="{4C492D1C-1298-4D24-B56E-7A3ABBA39FE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ia"/>
        </a:ext>
      </dgm:extLst>
    </dgm:pt>
    <dgm:pt modelId="{FF98BFA8-5FE4-4AEE-AE8D-CB2883F48848}" type="pres">
      <dgm:prSet presAssocID="{4C492D1C-1298-4D24-B56E-7A3ABBA39FE3}" presName="spaceRect" presStyleCnt="0"/>
      <dgm:spPr/>
    </dgm:pt>
    <dgm:pt modelId="{FF63F381-F005-43FB-9BC6-1351425ADC44}" type="pres">
      <dgm:prSet presAssocID="{4C492D1C-1298-4D24-B56E-7A3ABBA39FE3}" presName="parTx" presStyleLbl="revTx" presStyleIdx="2" presStyleCnt="4">
        <dgm:presLayoutVars>
          <dgm:chMax val="0"/>
          <dgm:chPref val="0"/>
        </dgm:presLayoutVars>
      </dgm:prSet>
      <dgm:spPr/>
    </dgm:pt>
    <dgm:pt modelId="{ECEF0107-9C66-47D9-A285-2E3F8CB1A308}" type="pres">
      <dgm:prSet presAssocID="{E1EFA0B7-A6A6-4F84-9F83-3161B4BA1279}" presName="sibTrans" presStyleCnt="0"/>
      <dgm:spPr/>
    </dgm:pt>
    <dgm:pt modelId="{E729FDCB-75E5-4FC1-8DC9-0E8C1BB6B515}" type="pres">
      <dgm:prSet presAssocID="{AC0324B7-C3BD-4AAA-89F8-34C947319479}" presName="compNode" presStyleCnt="0"/>
      <dgm:spPr/>
    </dgm:pt>
    <dgm:pt modelId="{FED93CD0-3F54-40B0-88A0-F3F62026ADA2}" type="pres">
      <dgm:prSet presAssocID="{AC0324B7-C3BD-4AAA-89F8-34C947319479}" presName="bgRect" presStyleLbl="bgShp" presStyleIdx="3" presStyleCnt="4"/>
      <dgm:spPr/>
    </dgm:pt>
    <dgm:pt modelId="{CB3E68D9-CDB8-4B94-A600-4510D21A5ADD}" type="pres">
      <dgm:prSet presAssocID="{AC0324B7-C3BD-4AAA-89F8-34C94731947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ponenciális grafikon körvonalas"/>
        </a:ext>
      </dgm:extLst>
    </dgm:pt>
    <dgm:pt modelId="{D9867D47-9C19-4C92-B3EF-1B056CDC86A1}" type="pres">
      <dgm:prSet presAssocID="{AC0324B7-C3BD-4AAA-89F8-34C947319479}" presName="spaceRect" presStyleCnt="0"/>
      <dgm:spPr/>
    </dgm:pt>
    <dgm:pt modelId="{0CE5CBF0-BAC8-4C11-BD07-D836526BDA4A}" type="pres">
      <dgm:prSet presAssocID="{AC0324B7-C3BD-4AAA-89F8-34C94731947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F3E3F17-FBA9-4582-A598-7AADD6BFB293}" srcId="{E4F5841B-1298-4A4E-8D28-590C8958D2D0}" destId="{E219729B-DC45-417C-810F-070D9C745498}" srcOrd="0" destOrd="0" parTransId="{8A8D28D1-883E-4D75-8E44-0056CE6137BC}" sibTransId="{C619F938-B593-43A7-B1BF-17567CF59B02}"/>
    <dgm:cxn modelId="{EE136E22-2943-4771-85BB-550B304DF6AF}" srcId="{E4F5841B-1298-4A4E-8D28-590C8958D2D0}" destId="{4C492D1C-1298-4D24-B56E-7A3ABBA39FE3}" srcOrd="2" destOrd="0" parTransId="{8FA08155-1C66-4564-9C3A-DF4D593F7BD5}" sibTransId="{E1EFA0B7-A6A6-4F84-9F83-3161B4BA1279}"/>
    <dgm:cxn modelId="{F0E66F35-6D6A-4002-9B87-7BC699100334}" type="presOf" srcId="{E219729B-DC45-417C-810F-070D9C745498}" destId="{C3287E96-77F9-4060-967C-658A6B1B3CDC}" srcOrd="0" destOrd="0" presId="urn:microsoft.com/office/officeart/2018/2/layout/IconVerticalSolidList"/>
    <dgm:cxn modelId="{DFC04E5A-CEB1-428A-908C-9BF00A1DEBE4}" type="presOf" srcId="{E4F5841B-1298-4A4E-8D28-590C8958D2D0}" destId="{CAEE7CFE-BFE8-46A0-8610-D4355923D58A}" srcOrd="0" destOrd="0" presId="urn:microsoft.com/office/officeart/2018/2/layout/IconVerticalSolidList"/>
    <dgm:cxn modelId="{7BF1775A-DF53-4799-8A9D-064200C3987A}" type="presOf" srcId="{1D0F4568-7563-4743-9777-61CDFBFCDF4A}" destId="{80B65539-A8BE-40A3-817D-E6599EC430B2}" srcOrd="0" destOrd="0" presId="urn:microsoft.com/office/officeart/2018/2/layout/IconVerticalSolidList"/>
    <dgm:cxn modelId="{978E2298-C8AB-4F40-8113-39CC57EBAAA8}" type="presOf" srcId="{4C492D1C-1298-4D24-B56E-7A3ABBA39FE3}" destId="{FF63F381-F005-43FB-9BC6-1351425ADC44}" srcOrd="0" destOrd="0" presId="urn:microsoft.com/office/officeart/2018/2/layout/IconVerticalSolidList"/>
    <dgm:cxn modelId="{743198D2-2182-453D-9ABE-E513EB26E8D5}" srcId="{E4F5841B-1298-4A4E-8D28-590C8958D2D0}" destId="{1D0F4568-7563-4743-9777-61CDFBFCDF4A}" srcOrd="1" destOrd="0" parTransId="{50BF305F-41FE-4CC9-9789-D685648FFE70}" sibTransId="{5977B9DC-120B-40FF-83F9-79E364DB68C6}"/>
    <dgm:cxn modelId="{9CBFCBD8-6963-4F3A-86B8-DB130B360C5D}" srcId="{E4F5841B-1298-4A4E-8D28-590C8958D2D0}" destId="{AC0324B7-C3BD-4AAA-89F8-34C947319479}" srcOrd="3" destOrd="0" parTransId="{8C0AB37B-60C9-4B99-9B21-B4D166C97CF3}" sibTransId="{B20B550F-C967-41F8-99DF-0E52D0F6B19C}"/>
    <dgm:cxn modelId="{A7B11EDD-F39C-45BD-AC3F-1D1E716FB59E}" type="presOf" srcId="{AC0324B7-C3BD-4AAA-89F8-34C947319479}" destId="{0CE5CBF0-BAC8-4C11-BD07-D836526BDA4A}" srcOrd="0" destOrd="0" presId="urn:microsoft.com/office/officeart/2018/2/layout/IconVerticalSolidList"/>
    <dgm:cxn modelId="{7B12D611-2797-42EC-B6B2-F913E385BE86}" type="presParOf" srcId="{CAEE7CFE-BFE8-46A0-8610-D4355923D58A}" destId="{B0DC9315-6141-4A05-9D8C-410A276B6AB2}" srcOrd="0" destOrd="0" presId="urn:microsoft.com/office/officeart/2018/2/layout/IconVerticalSolidList"/>
    <dgm:cxn modelId="{0A2DEC64-2450-4B29-9DBD-D63568D25305}" type="presParOf" srcId="{B0DC9315-6141-4A05-9D8C-410A276B6AB2}" destId="{4D9EED8D-75CD-41C7-AB15-14A33D35FF8B}" srcOrd="0" destOrd="0" presId="urn:microsoft.com/office/officeart/2018/2/layout/IconVerticalSolidList"/>
    <dgm:cxn modelId="{384AFA3A-CE6A-42A7-B09B-D60E17AF1285}" type="presParOf" srcId="{B0DC9315-6141-4A05-9D8C-410A276B6AB2}" destId="{7108E577-0DBA-40DE-B1E5-2249CDCC4169}" srcOrd="1" destOrd="0" presId="urn:microsoft.com/office/officeart/2018/2/layout/IconVerticalSolidList"/>
    <dgm:cxn modelId="{A6DE9A3C-D16C-4C3B-AF1E-452028BA19E9}" type="presParOf" srcId="{B0DC9315-6141-4A05-9D8C-410A276B6AB2}" destId="{25C33CBE-4672-4C43-A438-140B87BADFDA}" srcOrd="2" destOrd="0" presId="urn:microsoft.com/office/officeart/2018/2/layout/IconVerticalSolidList"/>
    <dgm:cxn modelId="{12060211-21A3-454F-8752-CF5147655639}" type="presParOf" srcId="{B0DC9315-6141-4A05-9D8C-410A276B6AB2}" destId="{C3287E96-77F9-4060-967C-658A6B1B3CDC}" srcOrd="3" destOrd="0" presId="urn:microsoft.com/office/officeart/2018/2/layout/IconVerticalSolidList"/>
    <dgm:cxn modelId="{6B105CD1-FE3B-4C9C-903E-5ECB84F2734A}" type="presParOf" srcId="{CAEE7CFE-BFE8-46A0-8610-D4355923D58A}" destId="{CDD45FF3-11DA-4C47-8389-541158B26B98}" srcOrd="1" destOrd="0" presId="urn:microsoft.com/office/officeart/2018/2/layout/IconVerticalSolidList"/>
    <dgm:cxn modelId="{66307182-0EF2-40A5-AD18-1CB3EA1A484F}" type="presParOf" srcId="{CAEE7CFE-BFE8-46A0-8610-D4355923D58A}" destId="{4FC31919-26A5-40D8-BC88-F5892FB6D031}" srcOrd="2" destOrd="0" presId="urn:microsoft.com/office/officeart/2018/2/layout/IconVerticalSolidList"/>
    <dgm:cxn modelId="{0547D258-949A-4FA8-A50B-ECE816B70AA8}" type="presParOf" srcId="{4FC31919-26A5-40D8-BC88-F5892FB6D031}" destId="{AA64CB13-C711-4209-99A8-82EA03E52117}" srcOrd="0" destOrd="0" presId="urn:microsoft.com/office/officeart/2018/2/layout/IconVerticalSolidList"/>
    <dgm:cxn modelId="{8B3E7C84-547F-475B-8C5D-9D10F290456E}" type="presParOf" srcId="{4FC31919-26A5-40D8-BC88-F5892FB6D031}" destId="{0BAB22AF-72EB-4B35-96BA-9046F1D9CD4F}" srcOrd="1" destOrd="0" presId="urn:microsoft.com/office/officeart/2018/2/layout/IconVerticalSolidList"/>
    <dgm:cxn modelId="{9600C30D-BDCA-4693-B80E-E2DE6EEB6D7C}" type="presParOf" srcId="{4FC31919-26A5-40D8-BC88-F5892FB6D031}" destId="{1160FB4B-F23D-4269-B33E-E57E3C172FBE}" srcOrd="2" destOrd="0" presId="urn:microsoft.com/office/officeart/2018/2/layout/IconVerticalSolidList"/>
    <dgm:cxn modelId="{F4295291-0679-4D39-ABBC-0DEC5FB6E765}" type="presParOf" srcId="{4FC31919-26A5-40D8-BC88-F5892FB6D031}" destId="{80B65539-A8BE-40A3-817D-E6599EC430B2}" srcOrd="3" destOrd="0" presId="urn:microsoft.com/office/officeart/2018/2/layout/IconVerticalSolidList"/>
    <dgm:cxn modelId="{748F2221-B3D2-47E9-A48F-FA2E9EAC0379}" type="presParOf" srcId="{CAEE7CFE-BFE8-46A0-8610-D4355923D58A}" destId="{C7AD88A0-622F-4513-B9F0-29C23CD79891}" srcOrd="3" destOrd="0" presId="urn:microsoft.com/office/officeart/2018/2/layout/IconVerticalSolidList"/>
    <dgm:cxn modelId="{F26C591E-4052-49E0-A05F-2D7E96C9B2B2}" type="presParOf" srcId="{CAEE7CFE-BFE8-46A0-8610-D4355923D58A}" destId="{AA962AFF-D4A9-4C43-9E2D-51F2E0A875D0}" srcOrd="4" destOrd="0" presId="urn:microsoft.com/office/officeart/2018/2/layout/IconVerticalSolidList"/>
    <dgm:cxn modelId="{E5207550-60CB-41A4-B472-3F90987AD4E4}" type="presParOf" srcId="{AA962AFF-D4A9-4C43-9E2D-51F2E0A875D0}" destId="{78747AD6-FCFB-404D-BE89-B381FB0212A3}" srcOrd="0" destOrd="0" presId="urn:microsoft.com/office/officeart/2018/2/layout/IconVerticalSolidList"/>
    <dgm:cxn modelId="{9E947037-186C-47E2-B336-42BE091466EE}" type="presParOf" srcId="{AA962AFF-D4A9-4C43-9E2D-51F2E0A875D0}" destId="{0B6CFDAA-0158-47F9-BBB7-4EBE80D7DB8E}" srcOrd="1" destOrd="0" presId="urn:microsoft.com/office/officeart/2018/2/layout/IconVerticalSolidList"/>
    <dgm:cxn modelId="{AE60DC81-92A6-40F6-951B-ADF35A211701}" type="presParOf" srcId="{AA962AFF-D4A9-4C43-9E2D-51F2E0A875D0}" destId="{FF98BFA8-5FE4-4AEE-AE8D-CB2883F48848}" srcOrd="2" destOrd="0" presId="urn:microsoft.com/office/officeart/2018/2/layout/IconVerticalSolidList"/>
    <dgm:cxn modelId="{47163940-8E98-4C48-863B-47D2EEABDD93}" type="presParOf" srcId="{AA962AFF-D4A9-4C43-9E2D-51F2E0A875D0}" destId="{FF63F381-F005-43FB-9BC6-1351425ADC44}" srcOrd="3" destOrd="0" presId="urn:microsoft.com/office/officeart/2018/2/layout/IconVerticalSolidList"/>
    <dgm:cxn modelId="{D339B471-FA63-4B72-9C03-435A4AC48695}" type="presParOf" srcId="{CAEE7CFE-BFE8-46A0-8610-D4355923D58A}" destId="{ECEF0107-9C66-47D9-A285-2E3F8CB1A308}" srcOrd="5" destOrd="0" presId="urn:microsoft.com/office/officeart/2018/2/layout/IconVerticalSolidList"/>
    <dgm:cxn modelId="{FE56B25A-4171-4DBC-A549-3EE6F4ADE6BB}" type="presParOf" srcId="{CAEE7CFE-BFE8-46A0-8610-D4355923D58A}" destId="{E729FDCB-75E5-4FC1-8DC9-0E8C1BB6B515}" srcOrd="6" destOrd="0" presId="urn:microsoft.com/office/officeart/2018/2/layout/IconVerticalSolidList"/>
    <dgm:cxn modelId="{C717F010-EA5C-4DC4-AFA7-44D962EA75AC}" type="presParOf" srcId="{E729FDCB-75E5-4FC1-8DC9-0E8C1BB6B515}" destId="{FED93CD0-3F54-40B0-88A0-F3F62026ADA2}" srcOrd="0" destOrd="0" presId="urn:microsoft.com/office/officeart/2018/2/layout/IconVerticalSolidList"/>
    <dgm:cxn modelId="{8CEC810E-EDAD-4369-AA7E-74DEFE362844}" type="presParOf" srcId="{E729FDCB-75E5-4FC1-8DC9-0E8C1BB6B515}" destId="{CB3E68D9-CDB8-4B94-A600-4510D21A5ADD}" srcOrd="1" destOrd="0" presId="urn:microsoft.com/office/officeart/2018/2/layout/IconVerticalSolidList"/>
    <dgm:cxn modelId="{931F6637-1ECA-4345-B77A-1EE3554E6F04}" type="presParOf" srcId="{E729FDCB-75E5-4FC1-8DC9-0E8C1BB6B515}" destId="{D9867D47-9C19-4C92-B3EF-1B056CDC86A1}" srcOrd="2" destOrd="0" presId="urn:microsoft.com/office/officeart/2018/2/layout/IconVerticalSolidList"/>
    <dgm:cxn modelId="{CFA49AD1-0833-48EA-9274-121D23068853}" type="presParOf" srcId="{E729FDCB-75E5-4FC1-8DC9-0E8C1BB6B515}" destId="{0CE5CBF0-BAC8-4C11-BD07-D836526BDA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E8A033-9EA2-4FBE-BDF5-53CDC37D3B8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671C155-E241-4BD0-A634-48D5D54ED332}">
      <dgm:prSet/>
      <dgm:spPr>
        <a:gradFill rotWithShape="0">
          <a:gsLst>
            <a:gs pos="0">
              <a:schemeClr val="tx2">
                <a:lumMod val="75000"/>
                <a:alpha val="70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16200000" scaled="0"/>
        </a:gradFill>
      </dgm:spPr>
      <dgm:t>
        <a:bodyPr/>
        <a:lstStyle/>
        <a:p>
          <a:r>
            <a:rPr lang="en-US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We built a modern multimodal retrieval system.</a:t>
          </a:r>
        </a:p>
      </dgm:t>
    </dgm:pt>
    <dgm:pt modelId="{8313E234-653E-4231-A245-BA6A86C8848F}" type="parTrans" cxnId="{9F95B587-708D-4459-80E8-DF4391429B61}">
      <dgm:prSet/>
      <dgm:spPr/>
      <dgm:t>
        <a:bodyPr/>
        <a:lstStyle/>
        <a:p>
          <a:endParaRPr lang="en-US"/>
        </a:p>
      </dgm:t>
    </dgm:pt>
    <dgm:pt modelId="{BBDB3672-34A6-4DB0-8351-7E8240DA81CB}" type="sibTrans" cxnId="{9F95B587-708D-4459-80E8-DF4391429B61}">
      <dgm:prSet/>
      <dgm:spPr/>
      <dgm:t>
        <a:bodyPr/>
        <a:lstStyle/>
        <a:p>
          <a:endParaRPr lang="en-US"/>
        </a:p>
      </dgm:t>
    </dgm:pt>
    <dgm:pt modelId="{8ACD813E-3813-4BA9-B975-2EEB4D9ED98D}">
      <dgm:prSet/>
      <dgm:spPr>
        <a:gradFill rotWithShape="0">
          <a:gsLst>
            <a:gs pos="100000">
              <a:schemeClr val="tx2">
                <a:lumMod val="20000"/>
                <a:lumOff val="80000"/>
              </a:schemeClr>
            </a:gs>
            <a:gs pos="0">
              <a:schemeClr val="tx2">
                <a:lumMod val="75000"/>
                <a:alpha val="70000"/>
              </a:schemeClr>
            </a:gs>
          </a:gsLst>
        </a:gradFill>
      </dgm:spPr>
      <dgm:t>
        <a:bodyPr/>
        <a:lstStyle/>
        <a:p>
          <a:r>
            <a:rPr lang="en-US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The approach differs from classical classification but solves the same problem more effectively.</a:t>
          </a:r>
        </a:p>
      </dgm:t>
    </dgm:pt>
    <dgm:pt modelId="{A109CA45-3E40-4CAF-B14C-9BAC7DA2E6F0}" type="parTrans" cxnId="{A9860A31-755B-4DF1-948E-019850F3DC36}">
      <dgm:prSet/>
      <dgm:spPr/>
      <dgm:t>
        <a:bodyPr/>
        <a:lstStyle/>
        <a:p>
          <a:endParaRPr lang="en-US"/>
        </a:p>
      </dgm:t>
    </dgm:pt>
    <dgm:pt modelId="{2C13FE67-B11A-478C-8321-7F58427919E0}" type="sibTrans" cxnId="{A9860A31-755B-4DF1-948E-019850F3DC36}">
      <dgm:prSet/>
      <dgm:spPr/>
      <dgm:t>
        <a:bodyPr/>
        <a:lstStyle/>
        <a:p>
          <a:endParaRPr lang="en-US"/>
        </a:p>
      </dgm:t>
    </dgm:pt>
    <dgm:pt modelId="{96036AC2-0465-40C4-B827-6A1C32E98689}">
      <dgm:prSet/>
      <dgm:spPr>
        <a:gradFill rotWithShape="0">
          <a:gsLst>
            <a:gs pos="100000">
              <a:schemeClr val="tx2">
                <a:lumMod val="20000"/>
                <a:lumOff val="80000"/>
              </a:schemeClr>
            </a:gs>
            <a:gs pos="0">
              <a:schemeClr val="tx2">
                <a:lumMod val="75000"/>
                <a:alpha val="70000"/>
              </a:schemeClr>
            </a:gs>
          </a:gsLst>
        </a:gradFill>
      </dgm:spPr>
      <dgm:t>
        <a:bodyPr/>
        <a:lstStyle/>
        <a:p>
          <a:r>
            <a:rPr lang="en-US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The system is efficient, scalable, and interpretable.</a:t>
          </a:r>
        </a:p>
      </dgm:t>
    </dgm:pt>
    <dgm:pt modelId="{6C775F01-3174-4818-95CD-2CBE3B74BDDE}" type="parTrans" cxnId="{57251243-B9E3-483E-B721-8CB8DCCAFF07}">
      <dgm:prSet/>
      <dgm:spPr/>
      <dgm:t>
        <a:bodyPr/>
        <a:lstStyle/>
        <a:p>
          <a:endParaRPr lang="en-US"/>
        </a:p>
      </dgm:t>
    </dgm:pt>
    <dgm:pt modelId="{975E8333-7ECC-4876-887B-1EABCE4B6F0B}" type="sibTrans" cxnId="{57251243-B9E3-483E-B721-8CB8DCCAFF07}">
      <dgm:prSet/>
      <dgm:spPr/>
      <dgm:t>
        <a:bodyPr/>
        <a:lstStyle/>
        <a:p>
          <a:endParaRPr lang="en-US"/>
        </a:p>
      </dgm:t>
    </dgm:pt>
    <dgm:pt modelId="{FE75A8CA-D3EC-4FEF-A620-ABAD2F9A906A}">
      <dgm:prSet/>
      <dgm:spPr>
        <a:gradFill rotWithShape="0">
          <a:gsLst>
            <a:gs pos="0">
              <a:schemeClr val="tx2">
                <a:lumMod val="75000"/>
                <a:alpha val="70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</a:gradFill>
      </dgm:spPr>
      <dgm:t>
        <a:bodyPr/>
        <a:lstStyle/>
        <a:p>
          <a:r>
            <a:rPr lang="en-US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The project demonstrates the strengths of joint image</a:t>
          </a:r>
          <a:r>
            <a:rPr lang="hu-HU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 - </a:t>
          </a:r>
          <a:r>
            <a:rPr lang="en-US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text representation learning.</a:t>
          </a:r>
        </a:p>
      </dgm:t>
    </dgm:pt>
    <dgm:pt modelId="{DC1781C7-6BD9-4C76-A148-CF805128CFB3}" type="parTrans" cxnId="{7F5DF548-4B5E-43F1-8F48-F2FB3B75280A}">
      <dgm:prSet/>
      <dgm:spPr/>
      <dgm:t>
        <a:bodyPr/>
        <a:lstStyle/>
        <a:p>
          <a:endParaRPr lang="en-US"/>
        </a:p>
      </dgm:t>
    </dgm:pt>
    <dgm:pt modelId="{E1D49E55-A274-4521-9A62-603419EEB07B}" type="sibTrans" cxnId="{7F5DF548-4B5E-43F1-8F48-F2FB3B75280A}">
      <dgm:prSet/>
      <dgm:spPr/>
      <dgm:t>
        <a:bodyPr/>
        <a:lstStyle/>
        <a:p>
          <a:endParaRPr lang="en-US"/>
        </a:p>
      </dgm:t>
    </dgm:pt>
    <dgm:pt modelId="{3EEF64D4-FA19-4138-8C03-72746DA20384}" type="pres">
      <dgm:prSet presAssocID="{60E8A033-9EA2-4FBE-BDF5-53CDC37D3B8D}" presName="linear" presStyleCnt="0">
        <dgm:presLayoutVars>
          <dgm:animLvl val="lvl"/>
          <dgm:resizeHandles val="exact"/>
        </dgm:presLayoutVars>
      </dgm:prSet>
      <dgm:spPr/>
    </dgm:pt>
    <dgm:pt modelId="{A310C4DA-C7C3-4C1B-AECD-C4D0153A9077}" type="pres">
      <dgm:prSet presAssocID="{0671C155-E241-4BD0-A634-48D5D54ED33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0D3E249-7E9F-4007-BF27-048FF4EC6F1B}" type="pres">
      <dgm:prSet presAssocID="{BBDB3672-34A6-4DB0-8351-7E8240DA81CB}" presName="spacer" presStyleCnt="0"/>
      <dgm:spPr/>
    </dgm:pt>
    <dgm:pt modelId="{875544AC-1413-4549-89C2-C2F85B5FF9FC}" type="pres">
      <dgm:prSet presAssocID="{8ACD813E-3813-4BA9-B975-2EEB4D9ED98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0297FF0-0412-494C-8C0F-1C66F7400D67}" type="pres">
      <dgm:prSet presAssocID="{2C13FE67-B11A-478C-8321-7F58427919E0}" presName="spacer" presStyleCnt="0"/>
      <dgm:spPr/>
    </dgm:pt>
    <dgm:pt modelId="{D8698138-7011-489E-8A87-7BCEEA6F93B8}" type="pres">
      <dgm:prSet presAssocID="{96036AC2-0465-40C4-B827-6A1C32E9868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68DF38E-7797-4001-AFC2-02F73AA39193}" type="pres">
      <dgm:prSet presAssocID="{975E8333-7ECC-4876-887B-1EABCE4B6F0B}" presName="spacer" presStyleCnt="0"/>
      <dgm:spPr/>
    </dgm:pt>
    <dgm:pt modelId="{56AFED4C-179C-4BB3-9DCB-DAE86FB7956A}" type="pres">
      <dgm:prSet presAssocID="{FE75A8CA-D3EC-4FEF-A620-ABAD2F9A906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E428C14-DEA1-4F0C-85ED-A7F16DE7ADD4}" type="presOf" srcId="{96036AC2-0465-40C4-B827-6A1C32E98689}" destId="{D8698138-7011-489E-8A87-7BCEEA6F93B8}" srcOrd="0" destOrd="0" presId="urn:microsoft.com/office/officeart/2005/8/layout/vList2"/>
    <dgm:cxn modelId="{A9860A31-755B-4DF1-948E-019850F3DC36}" srcId="{60E8A033-9EA2-4FBE-BDF5-53CDC37D3B8D}" destId="{8ACD813E-3813-4BA9-B975-2EEB4D9ED98D}" srcOrd="1" destOrd="0" parTransId="{A109CA45-3E40-4CAF-B14C-9BAC7DA2E6F0}" sibTransId="{2C13FE67-B11A-478C-8321-7F58427919E0}"/>
    <dgm:cxn modelId="{279B5E33-0EF5-4E3C-B22A-69CC8B68D52E}" type="presOf" srcId="{FE75A8CA-D3EC-4FEF-A620-ABAD2F9A906A}" destId="{56AFED4C-179C-4BB3-9DCB-DAE86FB7956A}" srcOrd="0" destOrd="0" presId="urn:microsoft.com/office/officeart/2005/8/layout/vList2"/>
    <dgm:cxn modelId="{57251243-B9E3-483E-B721-8CB8DCCAFF07}" srcId="{60E8A033-9EA2-4FBE-BDF5-53CDC37D3B8D}" destId="{96036AC2-0465-40C4-B827-6A1C32E98689}" srcOrd="2" destOrd="0" parTransId="{6C775F01-3174-4818-95CD-2CBE3B74BDDE}" sibTransId="{975E8333-7ECC-4876-887B-1EABCE4B6F0B}"/>
    <dgm:cxn modelId="{7F5DF548-4B5E-43F1-8F48-F2FB3B75280A}" srcId="{60E8A033-9EA2-4FBE-BDF5-53CDC37D3B8D}" destId="{FE75A8CA-D3EC-4FEF-A620-ABAD2F9A906A}" srcOrd="3" destOrd="0" parTransId="{DC1781C7-6BD9-4C76-A148-CF805128CFB3}" sibTransId="{E1D49E55-A274-4521-9A62-603419EEB07B}"/>
    <dgm:cxn modelId="{49D50D51-4E53-4AB1-B6CE-EEAE4B29FCAB}" type="presOf" srcId="{8ACD813E-3813-4BA9-B975-2EEB4D9ED98D}" destId="{875544AC-1413-4549-89C2-C2F85B5FF9FC}" srcOrd="0" destOrd="0" presId="urn:microsoft.com/office/officeart/2005/8/layout/vList2"/>
    <dgm:cxn modelId="{CD50987C-4C0B-4A63-99DB-9674B43D19D4}" type="presOf" srcId="{60E8A033-9EA2-4FBE-BDF5-53CDC37D3B8D}" destId="{3EEF64D4-FA19-4138-8C03-72746DA20384}" srcOrd="0" destOrd="0" presId="urn:microsoft.com/office/officeart/2005/8/layout/vList2"/>
    <dgm:cxn modelId="{9F95B587-708D-4459-80E8-DF4391429B61}" srcId="{60E8A033-9EA2-4FBE-BDF5-53CDC37D3B8D}" destId="{0671C155-E241-4BD0-A634-48D5D54ED332}" srcOrd="0" destOrd="0" parTransId="{8313E234-653E-4231-A245-BA6A86C8848F}" sibTransId="{BBDB3672-34A6-4DB0-8351-7E8240DA81CB}"/>
    <dgm:cxn modelId="{75C461FD-5F71-41CA-BFC1-BE2610050622}" type="presOf" srcId="{0671C155-E241-4BD0-A634-48D5D54ED332}" destId="{A310C4DA-C7C3-4C1B-AECD-C4D0153A9077}" srcOrd="0" destOrd="0" presId="urn:microsoft.com/office/officeart/2005/8/layout/vList2"/>
    <dgm:cxn modelId="{30A6556E-F627-4AAB-B307-2351B1B3FB53}" type="presParOf" srcId="{3EEF64D4-FA19-4138-8C03-72746DA20384}" destId="{A310C4DA-C7C3-4C1B-AECD-C4D0153A9077}" srcOrd="0" destOrd="0" presId="urn:microsoft.com/office/officeart/2005/8/layout/vList2"/>
    <dgm:cxn modelId="{B041E0C5-AF90-4B8A-BEAF-13B42244F12A}" type="presParOf" srcId="{3EEF64D4-FA19-4138-8C03-72746DA20384}" destId="{20D3E249-7E9F-4007-BF27-048FF4EC6F1B}" srcOrd="1" destOrd="0" presId="urn:microsoft.com/office/officeart/2005/8/layout/vList2"/>
    <dgm:cxn modelId="{30C31FA7-7FE1-4F39-99EA-8093FAB7A4DA}" type="presParOf" srcId="{3EEF64D4-FA19-4138-8C03-72746DA20384}" destId="{875544AC-1413-4549-89C2-C2F85B5FF9FC}" srcOrd="2" destOrd="0" presId="urn:microsoft.com/office/officeart/2005/8/layout/vList2"/>
    <dgm:cxn modelId="{8DA0FFF5-6363-4EFE-8276-AC599B20209C}" type="presParOf" srcId="{3EEF64D4-FA19-4138-8C03-72746DA20384}" destId="{20297FF0-0412-494C-8C0F-1C66F7400D67}" srcOrd="3" destOrd="0" presId="urn:microsoft.com/office/officeart/2005/8/layout/vList2"/>
    <dgm:cxn modelId="{D0F17471-D2C3-44F0-AEC5-BD647F110E3F}" type="presParOf" srcId="{3EEF64D4-FA19-4138-8C03-72746DA20384}" destId="{D8698138-7011-489E-8A87-7BCEEA6F93B8}" srcOrd="4" destOrd="0" presId="urn:microsoft.com/office/officeart/2005/8/layout/vList2"/>
    <dgm:cxn modelId="{4A746024-00A6-4B98-81CD-DD45F0AB7008}" type="presParOf" srcId="{3EEF64D4-FA19-4138-8C03-72746DA20384}" destId="{968DF38E-7797-4001-AFC2-02F73AA39193}" srcOrd="5" destOrd="0" presId="urn:microsoft.com/office/officeart/2005/8/layout/vList2"/>
    <dgm:cxn modelId="{7254190A-291D-4298-A7FC-51B6FA6E7E06}" type="presParOf" srcId="{3EEF64D4-FA19-4138-8C03-72746DA20384}" destId="{56AFED4C-179C-4BB3-9DCB-DAE86FB7956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E8A033-9EA2-4FBE-BDF5-53CDC37D3B8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671C155-E241-4BD0-A634-48D5D54ED332}">
      <dgm:prSet/>
      <dgm:spPr>
        <a:gradFill rotWithShape="0">
          <a:gsLst>
            <a:gs pos="0">
              <a:schemeClr val="tx2">
                <a:lumMod val="75000"/>
                <a:alpha val="70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16200000" scaled="0"/>
        </a:gradFill>
      </dgm:spPr>
      <dgm:t>
        <a:bodyPr/>
        <a:lstStyle/>
        <a:p>
          <a:r>
            <a:rPr lang="en-US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We built a modern multimodal retrieval system.</a:t>
          </a:r>
        </a:p>
      </dgm:t>
    </dgm:pt>
    <dgm:pt modelId="{8313E234-653E-4231-A245-BA6A86C8848F}" type="parTrans" cxnId="{9F95B587-708D-4459-80E8-DF4391429B61}">
      <dgm:prSet/>
      <dgm:spPr/>
      <dgm:t>
        <a:bodyPr/>
        <a:lstStyle/>
        <a:p>
          <a:endParaRPr lang="en-US"/>
        </a:p>
      </dgm:t>
    </dgm:pt>
    <dgm:pt modelId="{BBDB3672-34A6-4DB0-8351-7E8240DA81CB}" type="sibTrans" cxnId="{9F95B587-708D-4459-80E8-DF4391429B61}">
      <dgm:prSet/>
      <dgm:spPr/>
      <dgm:t>
        <a:bodyPr/>
        <a:lstStyle/>
        <a:p>
          <a:endParaRPr lang="en-US"/>
        </a:p>
      </dgm:t>
    </dgm:pt>
    <dgm:pt modelId="{8ACD813E-3813-4BA9-B975-2EEB4D9ED98D}">
      <dgm:prSet/>
      <dgm:spPr>
        <a:gradFill rotWithShape="0">
          <a:gsLst>
            <a:gs pos="100000">
              <a:schemeClr val="tx2">
                <a:lumMod val="20000"/>
                <a:lumOff val="80000"/>
              </a:schemeClr>
            </a:gs>
            <a:gs pos="0">
              <a:schemeClr val="tx2">
                <a:lumMod val="75000"/>
                <a:alpha val="70000"/>
              </a:schemeClr>
            </a:gs>
          </a:gsLst>
        </a:gradFill>
      </dgm:spPr>
      <dgm:t>
        <a:bodyPr/>
        <a:lstStyle/>
        <a:p>
          <a:r>
            <a:rPr lang="en-US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The approach differs from classical classification but solves the same problem more effectively.</a:t>
          </a:r>
        </a:p>
      </dgm:t>
    </dgm:pt>
    <dgm:pt modelId="{A109CA45-3E40-4CAF-B14C-9BAC7DA2E6F0}" type="parTrans" cxnId="{A9860A31-755B-4DF1-948E-019850F3DC36}">
      <dgm:prSet/>
      <dgm:spPr/>
      <dgm:t>
        <a:bodyPr/>
        <a:lstStyle/>
        <a:p>
          <a:endParaRPr lang="en-US"/>
        </a:p>
      </dgm:t>
    </dgm:pt>
    <dgm:pt modelId="{2C13FE67-B11A-478C-8321-7F58427919E0}" type="sibTrans" cxnId="{A9860A31-755B-4DF1-948E-019850F3DC36}">
      <dgm:prSet/>
      <dgm:spPr/>
      <dgm:t>
        <a:bodyPr/>
        <a:lstStyle/>
        <a:p>
          <a:endParaRPr lang="en-US"/>
        </a:p>
      </dgm:t>
    </dgm:pt>
    <dgm:pt modelId="{96036AC2-0465-40C4-B827-6A1C32E98689}">
      <dgm:prSet/>
      <dgm:spPr>
        <a:gradFill rotWithShape="0">
          <a:gsLst>
            <a:gs pos="100000">
              <a:schemeClr val="tx2">
                <a:lumMod val="20000"/>
                <a:lumOff val="80000"/>
              </a:schemeClr>
            </a:gs>
            <a:gs pos="0">
              <a:schemeClr val="tx2">
                <a:lumMod val="75000"/>
                <a:alpha val="70000"/>
              </a:schemeClr>
            </a:gs>
          </a:gsLst>
        </a:gradFill>
      </dgm:spPr>
      <dgm:t>
        <a:bodyPr/>
        <a:lstStyle/>
        <a:p>
          <a:r>
            <a:rPr lang="en-US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The system is efficient, scalable, and interpretable.</a:t>
          </a:r>
        </a:p>
      </dgm:t>
    </dgm:pt>
    <dgm:pt modelId="{6C775F01-3174-4818-95CD-2CBE3B74BDDE}" type="parTrans" cxnId="{57251243-B9E3-483E-B721-8CB8DCCAFF07}">
      <dgm:prSet/>
      <dgm:spPr/>
      <dgm:t>
        <a:bodyPr/>
        <a:lstStyle/>
        <a:p>
          <a:endParaRPr lang="en-US"/>
        </a:p>
      </dgm:t>
    </dgm:pt>
    <dgm:pt modelId="{975E8333-7ECC-4876-887B-1EABCE4B6F0B}" type="sibTrans" cxnId="{57251243-B9E3-483E-B721-8CB8DCCAFF07}">
      <dgm:prSet/>
      <dgm:spPr/>
      <dgm:t>
        <a:bodyPr/>
        <a:lstStyle/>
        <a:p>
          <a:endParaRPr lang="en-US"/>
        </a:p>
      </dgm:t>
    </dgm:pt>
    <dgm:pt modelId="{FE75A8CA-D3EC-4FEF-A620-ABAD2F9A906A}">
      <dgm:prSet/>
      <dgm:spPr>
        <a:gradFill rotWithShape="0">
          <a:gsLst>
            <a:gs pos="0">
              <a:schemeClr val="tx2">
                <a:lumMod val="75000"/>
                <a:alpha val="70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</a:gradFill>
      </dgm:spPr>
      <dgm:t>
        <a:bodyPr/>
        <a:lstStyle/>
        <a:p>
          <a:r>
            <a:rPr lang="en-US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The project demonstrates the strengths of joint image</a:t>
          </a:r>
          <a:r>
            <a:rPr lang="hu-HU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 - </a:t>
          </a:r>
          <a:r>
            <a:rPr lang="en-US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text representation learning.</a:t>
          </a:r>
        </a:p>
      </dgm:t>
    </dgm:pt>
    <dgm:pt modelId="{DC1781C7-6BD9-4C76-A148-CF805128CFB3}" type="parTrans" cxnId="{7F5DF548-4B5E-43F1-8F48-F2FB3B75280A}">
      <dgm:prSet/>
      <dgm:spPr/>
      <dgm:t>
        <a:bodyPr/>
        <a:lstStyle/>
        <a:p>
          <a:endParaRPr lang="en-US"/>
        </a:p>
      </dgm:t>
    </dgm:pt>
    <dgm:pt modelId="{E1D49E55-A274-4521-9A62-603419EEB07B}" type="sibTrans" cxnId="{7F5DF548-4B5E-43F1-8F48-F2FB3B75280A}">
      <dgm:prSet/>
      <dgm:spPr/>
      <dgm:t>
        <a:bodyPr/>
        <a:lstStyle/>
        <a:p>
          <a:endParaRPr lang="en-US"/>
        </a:p>
      </dgm:t>
    </dgm:pt>
    <dgm:pt modelId="{3EEF64D4-FA19-4138-8C03-72746DA20384}" type="pres">
      <dgm:prSet presAssocID="{60E8A033-9EA2-4FBE-BDF5-53CDC37D3B8D}" presName="linear" presStyleCnt="0">
        <dgm:presLayoutVars>
          <dgm:animLvl val="lvl"/>
          <dgm:resizeHandles val="exact"/>
        </dgm:presLayoutVars>
      </dgm:prSet>
      <dgm:spPr/>
    </dgm:pt>
    <dgm:pt modelId="{A310C4DA-C7C3-4C1B-AECD-C4D0153A9077}" type="pres">
      <dgm:prSet presAssocID="{0671C155-E241-4BD0-A634-48D5D54ED33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0D3E249-7E9F-4007-BF27-048FF4EC6F1B}" type="pres">
      <dgm:prSet presAssocID="{BBDB3672-34A6-4DB0-8351-7E8240DA81CB}" presName="spacer" presStyleCnt="0"/>
      <dgm:spPr/>
    </dgm:pt>
    <dgm:pt modelId="{875544AC-1413-4549-89C2-C2F85B5FF9FC}" type="pres">
      <dgm:prSet presAssocID="{8ACD813E-3813-4BA9-B975-2EEB4D9ED98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0297FF0-0412-494C-8C0F-1C66F7400D67}" type="pres">
      <dgm:prSet presAssocID="{2C13FE67-B11A-478C-8321-7F58427919E0}" presName="spacer" presStyleCnt="0"/>
      <dgm:spPr/>
    </dgm:pt>
    <dgm:pt modelId="{D8698138-7011-489E-8A87-7BCEEA6F93B8}" type="pres">
      <dgm:prSet presAssocID="{96036AC2-0465-40C4-B827-6A1C32E9868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68DF38E-7797-4001-AFC2-02F73AA39193}" type="pres">
      <dgm:prSet presAssocID="{975E8333-7ECC-4876-887B-1EABCE4B6F0B}" presName="spacer" presStyleCnt="0"/>
      <dgm:spPr/>
    </dgm:pt>
    <dgm:pt modelId="{56AFED4C-179C-4BB3-9DCB-DAE86FB7956A}" type="pres">
      <dgm:prSet presAssocID="{FE75A8CA-D3EC-4FEF-A620-ABAD2F9A906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E428C14-DEA1-4F0C-85ED-A7F16DE7ADD4}" type="presOf" srcId="{96036AC2-0465-40C4-B827-6A1C32E98689}" destId="{D8698138-7011-489E-8A87-7BCEEA6F93B8}" srcOrd="0" destOrd="0" presId="urn:microsoft.com/office/officeart/2005/8/layout/vList2"/>
    <dgm:cxn modelId="{A9860A31-755B-4DF1-948E-019850F3DC36}" srcId="{60E8A033-9EA2-4FBE-BDF5-53CDC37D3B8D}" destId="{8ACD813E-3813-4BA9-B975-2EEB4D9ED98D}" srcOrd="1" destOrd="0" parTransId="{A109CA45-3E40-4CAF-B14C-9BAC7DA2E6F0}" sibTransId="{2C13FE67-B11A-478C-8321-7F58427919E0}"/>
    <dgm:cxn modelId="{279B5E33-0EF5-4E3C-B22A-69CC8B68D52E}" type="presOf" srcId="{FE75A8CA-D3EC-4FEF-A620-ABAD2F9A906A}" destId="{56AFED4C-179C-4BB3-9DCB-DAE86FB7956A}" srcOrd="0" destOrd="0" presId="urn:microsoft.com/office/officeart/2005/8/layout/vList2"/>
    <dgm:cxn modelId="{57251243-B9E3-483E-B721-8CB8DCCAFF07}" srcId="{60E8A033-9EA2-4FBE-BDF5-53CDC37D3B8D}" destId="{96036AC2-0465-40C4-B827-6A1C32E98689}" srcOrd="2" destOrd="0" parTransId="{6C775F01-3174-4818-95CD-2CBE3B74BDDE}" sibTransId="{975E8333-7ECC-4876-887B-1EABCE4B6F0B}"/>
    <dgm:cxn modelId="{7F5DF548-4B5E-43F1-8F48-F2FB3B75280A}" srcId="{60E8A033-9EA2-4FBE-BDF5-53CDC37D3B8D}" destId="{FE75A8CA-D3EC-4FEF-A620-ABAD2F9A906A}" srcOrd="3" destOrd="0" parTransId="{DC1781C7-6BD9-4C76-A148-CF805128CFB3}" sibTransId="{E1D49E55-A274-4521-9A62-603419EEB07B}"/>
    <dgm:cxn modelId="{49D50D51-4E53-4AB1-B6CE-EEAE4B29FCAB}" type="presOf" srcId="{8ACD813E-3813-4BA9-B975-2EEB4D9ED98D}" destId="{875544AC-1413-4549-89C2-C2F85B5FF9FC}" srcOrd="0" destOrd="0" presId="urn:microsoft.com/office/officeart/2005/8/layout/vList2"/>
    <dgm:cxn modelId="{CD50987C-4C0B-4A63-99DB-9674B43D19D4}" type="presOf" srcId="{60E8A033-9EA2-4FBE-BDF5-53CDC37D3B8D}" destId="{3EEF64D4-FA19-4138-8C03-72746DA20384}" srcOrd="0" destOrd="0" presId="urn:microsoft.com/office/officeart/2005/8/layout/vList2"/>
    <dgm:cxn modelId="{9F95B587-708D-4459-80E8-DF4391429B61}" srcId="{60E8A033-9EA2-4FBE-BDF5-53CDC37D3B8D}" destId="{0671C155-E241-4BD0-A634-48D5D54ED332}" srcOrd="0" destOrd="0" parTransId="{8313E234-653E-4231-A245-BA6A86C8848F}" sibTransId="{BBDB3672-34A6-4DB0-8351-7E8240DA81CB}"/>
    <dgm:cxn modelId="{75C461FD-5F71-41CA-BFC1-BE2610050622}" type="presOf" srcId="{0671C155-E241-4BD0-A634-48D5D54ED332}" destId="{A310C4DA-C7C3-4C1B-AECD-C4D0153A9077}" srcOrd="0" destOrd="0" presId="urn:microsoft.com/office/officeart/2005/8/layout/vList2"/>
    <dgm:cxn modelId="{30A6556E-F627-4AAB-B307-2351B1B3FB53}" type="presParOf" srcId="{3EEF64D4-FA19-4138-8C03-72746DA20384}" destId="{A310C4DA-C7C3-4C1B-AECD-C4D0153A9077}" srcOrd="0" destOrd="0" presId="urn:microsoft.com/office/officeart/2005/8/layout/vList2"/>
    <dgm:cxn modelId="{B041E0C5-AF90-4B8A-BEAF-13B42244F12A}" type="presParOf" srcId="{3EEF64D4-FA19-4138-8C03-72746DA20384}" destId="{20D3E249-7E9F-4007-BF27-048FF4EC6F1B}" srcOrd="1" destOrd="0" presId="urn:microsoft.com/office/officeart/2005/8/layout/vList2"/>
    <dgm:cxn modelId="{30C31FA7-7FE1-4F39-99EA-8093FAB7A4DA}" type="presParOf" srcId="{3EEF64D4-FA19-4138-8C03-72746DA20384}" destId="{875544AC-1413-4549-89C2-C2F85B5FF9FC}" srcOrd="2" destOrd="0" presId="urn:microsoft.com/office/officeart/2005/8/layout/vList2"/>
    <dgm:cxn modelId="{8DA0FFF5-6363-4EFE-8276-AC599B20209C}" type="presParOf" srcId="{3EEF64D4-FA19-4138-8C03-72746DA20384}" destId="{20297FF0-0412-494C-8C0F-1C66F7400D67}" srcOrd="3" destOrd="0" presId="urn:microsoft.com/office/officeart/2005/8/layout/vList2"/>
    <dgm:cxn modelId="{D0F17471-D2C3-44F0-AEC5-BD647F110E3F}" type="presParOf" srcId="{3EEF64D4-FA19-4138-8C03-72746DA20384}" destId="{D8698138-7011-489E-8A87-7BCEEA6F93B8}" srcOrd="4" destOrd="0" presId="urn:microsoft.com/office/officeart/2005/8/layout/vList2"/>
    <dgm:cxn modelId="{4A746024-00A6-4B98-81CD-DD45F0AB7008}" type="presParOf" srcId="{3EEF64D4-FA19-4138-8C03-72746DA20384}" destId="{968DF38E-7797-4001-AFC2-02F73AA39193}" srcOrd="5" destOrd="0" presId="urn:microsoft.com/office/officeart/2005/8/layout/vList2"/>
    <dgm:cxn modelId="{7254190A-291D-4298-A7FC-51B6FA6E7E06}" type="presParOf" srcId="{3EEF64D4-FA19-4138-8C03-72746DA20384}" destId="{56AFED4C-179C-4BB3-9DCB-DAE86FB7956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9EED8D-75CD-41C7-AB15-14A33D35FF8B}">
      <dsp:nvSpPr>
        <dsp:cNvPr id="0" name=""/>
        <dsp:cNvSpPr/>
      </dsp:nvSpPr>
      <dsp:spPr>
        <a:xfrm>
          <a:off x="0" y="2284"/>
          <a:ext cx="4697730" cy="1157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08E577-0DBA-40DE-B1E5-2249CDCC4169}">
      <dsp:nvSpPr>
        <dsp:cNvPr id="0" name=""/>
        <dsp:cNvSpPr/>
      </dsp:nvSpPr>
      <dsp:spPr>
        <a:xfrm>
          <a:off x="350270" y="262816"/>
          <a:ext cx="636855" cy="6368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287E96-77F9-4060-967C-658A6B1B3CDC}">
      <dsp:nvSpPr>
        <dsp:cNvPr id="0" name=""/>
        <dsp:cNvSpPr/>
      </dsp:nvSpPr>
      <dsp:spPr>
        <a:xfrm>
          <a:off x="1337397" y="2284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Images are resized and normalized before being fed into the model.</a:t>
          </a:r>
        </a:p>
      </dsp:txBody>
      <dsp:txXfrm>
        <a:off x="1337397" y="2284"/>
        <a:ext cx="3360332" cy="1157919"/>
      </dsp:txXfrm>
    </dsp:sp>
    <dsp:sp modelId="{AA64CB13-C711-4209-99A8-82EA03E52117}">
      <dsp:nvSpPr>
        <dsp:cNvPr id="0" name=""/>
        <dsp:cNvSpPr/>
      </dsp:nvSpPr>
      <dsp:spPr>
        <a:xfrm>
          <a:off x="0" y="1449684"/>
          <a:ext cx="4697730" cy="1157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B22AF-72EB-4B35-96BA-9046F1D9CD4F}">
      <dsp:nvSpPr>
        <dsp:cNvPr id="0" name=""/>
        <dsp:cNvSpPr/>
      </dsp:nvSpPr>
      <dsp:spPr>
        <a:xfrm>
          <a:off x="350270" y="1710216"/>
          <a:ext cx="636855" cy="6368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B65539-A8BE-40A3-817D-E6599EC430B2}">
      <dsp:nvSpPr>
        <dsp:cNvPr id="0" name=""/>
        <dsp:cNvSpPr/>
      </dsp:nvSpPr>
      <dsp:spPr>
        <a:xfrm>
          <a:off x="1337397" y="1449684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We use a pre-trained </a:t>
          </a:r>
          <a:r>
            <a:rPr lang="en-US" sz="1900" kern="1200" dirty="0" err="1"/>
            <a:t>EfficientNet</a:t>
          </a:r>
          <a:r>
            <a:rPr lang="en-US" sz="1900" kern="1200" dirty="0"/>
            <a:t> as the image encoder.</a:t>
          </a:r>
        </a:p>
      </dsp:txBody>
      <dsp:txXfrm>
        <a:off x="1337397" y="1449684"/>
        <a:ext cx="3360332" cy="1157919"/>
      </dsp:txXfrm>
    </dsp:sp>
    <dsp:sp modelId="{78747AD6-FCFB-404D-BE89-B381FB0212A3}">
      <dsp:nvSpPr>
        <dsp:cNvPr id="0" name=""/>
        <dsp:cNvSpPr/>
      </dsp:nvSpPr>
      <dsp:spPr>
        <a:xfrm>
          <a:off x="0" y="2897083"/>
          <a:ext cx="4697730" cy="1157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6CFDAA-0158-47F9-BBB7-4EBE80D7DB8E}">
      <dsp:nvSpPr>
        <dsp:cNvPr id="0" name=""/>
        <dsp:cNvSpPr/>
      </dsp:nvSpPr>
      <dsp:spPr>
        <a:xfrm>
          <a:off x="350270" y="3157615"/>
          <a:ext cx="636855" cy="6368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3F381-F005-43FB-9BC6-1351425ADC44}">
      <dsp:nvSpPr>
        <dsp:cNvPr id="0" name=""/>
        <dsp:cNvSpPr/>
      </dsp:nvSpPr>
      <dsp:spPr>
        <a:xfrm>
          <a:off x="1337397" y="2897083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classification head is removed.</a:t>
          </a:r>
        </a:p>
      </dsp:txBody>
      <dsp:txXfrm>
        <a:off x="1337397" y="2897083"/>
        <a:ext cx="3360332" cy="1157919"/>
      </dsp:txXfrm>
    </dsp:sp>
    <dsp:sp modelId="{FED93CD0-3F54-40B0-88A0-F3F62026ADA2}">
      <dsp:nvSpPr>
        <dsp:cNvPr id="0" name=""/>
        <dsp:cNvSpPr/>
      </dsp:nvSpPr>
      <dsp:spPr>
        <a:xfrm>
          <a:off x="0" y="4344483"/>
          <a:ext cx="4697730" cy="1157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3E68D9-CDB8-4B94-A600-4510D21A5ADD}">
      <dsp:nvSpPr>
        <dsp:cNvPr id="0" name=""/>
        <dsp:cNvSpPr/>
      </dsp:nvSpPr>
      <dsp:spPr>
        <a:xfrm>
          <a:off x="350270" y="4605015"/>
          <a:ext cx="636855" cy="6368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E5CBF0-BAC8-4C11-BD07-D836526BDA4A}">
      <dsp:nvSpPr>
        <dsp:cNvPr id="0" name=""/>
        <dsp:cNvSpPr/>
      </dsp:nvSpPr>
      <dsp:spPr>
        <a:xfrm>
          <a:off x="1337397" y="4344483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CNN outputs a fixed-length visual feature vector.</a:t>
          </a:r>
        </a:p>
      </dsp:txBody>
      <dsp:txXfrm>
        <a:off x="1337397" y="4344483"/>
        <a:ext cx="3360332" cy="11579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9EED8D-75CD-41C7-AB15-14A33D35FF8B}">
      <dsp:nvSpPr>
        <dsp:cNvPr id="0" name=""/>
        <dsp:cNvSpPr/>
      </dsp:nvSpPr>
      <dsp:spPr>
        <a:xfrm>
          <a:off x="0" y="2284"/>
          <a:ext cx="4697730" cy="1157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08E577-0DBA-40DE-B1E5-2249CDCC4169}">
      <dsp:nvSpPr>
        <dsp:cNvPr id="0" name=""/>
        <dsp:cNvSpPr/>
      </dsp:nvSpPr>
      <dsp:spPr>
        <a:xfrm>
          <a:off x="350270" y="262816"/>
          <a:ext cx="636855" cy="6368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287E96-77F9-4060-967C-658A6B1B3CDC}">
      <dsp:nvSpPr>
        <dsp:cNvPr id="0" name=""/>
        <dsp:cNvSpPr/>
      </dsp:nvSpPr>
      <dsp:spPr>
        <a:xfrm>
          <a:off x="1337397" y="2284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Images are resized and normalized before being fed into the model.</a:t>
          </a:r>
        </a:p>
      </dsp:txBody>
      <dsp:txXfrm>
        <a:off x="1337397" y="2284"/>
        <a:ext cx="3360332" cy="1157919"/>
      </dsp:txXfrm>
    </dsp:sp>
    <dsp:sp modelId="{AA64CB13-C711-4209-99A8-82EA03E52117}">
      <dsp:nvSpPr>
        <dsp:cNvPr id="0" name=""/>
        <dsp:cNvSpPr/>
      </dsp:nvSpPr>
      <dsp:spPr>
        <a:xfrm>
          <a:off x="0" y="1449684"/>
          <a:ext cx="4697730" cy="1157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B22AF-72EB-4B35-96BA-9046F1D9CD4F}">
      <dsp:nvSpPr>
        <dsp:cNvPr id="0" name=""/>
        <dsp:cNvSpPr/>
      </dsp:nvSpPr>
      <dsp:spPr>
        <a:xfrm>
          <a:off x="350270" y="1710216"/>
          <a:ext cx="636855" cy="6368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B65539-A8BE-40A3-817D-E6599EC430B2}">
      <dsp:nvSpPr>
        <dsp:cNvPr id="0" name=""/>
        <dsp:cNvSpPr/>
      </dsp:nvSpPr>
      <dsp:spPr>
        <a:xfrm>
          <a:off x="1337397" y="1449684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We use a pre-trained </a:t>
          </a:r>
          <a:r>
            <a:rPr lang="en-US" sz="1900" kern="1200" dirty="0" err="1"/>
            <a:t>EfficientNet</a:t>
          </a:r>
          <a:r>
            <a:rPr lang="en-US" sz="1900" kern="1200" dirty="0"/>
            <a:t> as the image encoder.</a:t>
          </a:r>
        </a:p>
      </dsp:txBody>
      <dsp:txXfrm>
        <a:off x="1337397" y="1449684"/>
        <a:ext cx="3360332" cy="1157919"/>
      </dsp:txXfrm>
    </dsp:sp>
    <dsp:sp modelId="{78747AD6-FCFB-404D-BE89-B381FB0212A3}">
      <dsp:nvSpPr>
        <dsp:cNvPr id="0" name=""/>
        <dsp:cNvSpPr/>
      </dsp:nvSpPr>
      <dsp:spPr>
        <a:xfrm>
          <a:off x="0" y="2897083"/>
          <a:ext cx="4697730" cy="1157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6CFDAA-0158-47F9-BBB7-4EBE80D7DB8E}">
      <dsp:nvSpPr>
        <dsp:cNvPr id="0" name=""/>
        <dsp:cNvSpPr/>
      </dsp:nvSpPr>
      <dsp:spPr>
        <a:xfrm>
          <a:off x="350270" y="3157615"/>
          <a:ext cx="636855" cy="6368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3F381-F005-43FB-9BC6-1351425ADC44}">
      <dsp:nvSpPr>
        <dsp:cNvPr id="0" name=""/>
        <dsp:cNvSpPr/>
      </dsp:nvSpPr>
      <dsp:spPr>
        <a:xfrm>
          <a:off x="1337397" y="2897083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classification head is removed.</a:t>
          </a:r>
        </a:p>
      </dsp:txBody>
      <dsp:txXfrm>
        <a:off x="1337397" y="2897083"/>
        <a:ext cx="3360332" cy="1157919"/>
      </dsp:txXfrm>
    </dsp:sp>
    <dsp:sp modelId="{FED93CD0-3F54-40B0-88A0-F3F62026ADA2}">
      <dsp:nvSpPr>
        <dsp:cNvPr id="0" name=""/>
        <dsp:cNvSpPr/>
      </dsp:nvSpPr>
      <dsp:spPr>
        <a:xfrm>
          <a:off x="0" y="4344483"/>
          <a:ext cx="4697730" cy="1157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3E68D9-CDB8-4B94-A600-4510D21A5ADD}">
      <dsp:nvSpPr>
        <dsp:cNvPr id="0" name=""/>
        <dsp:cNvSpPr/>
      </dsp:nvSpPr>
      <dsp:spPr>
        <a:xfrm>
          <a:off x="350270" y="4605015"/>
          <a:ext cx="636855" cy="6368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E5CBF0-BAC8-4C11-BD07-D836526BDA4A}">
      <dsp:nvSpPr>
        <dsp:cNvPr id="0" name=""/>
        <dsp:cNvSpPr/>
      </dsp:nvSpPr>
      <dsp:spPr>
        <a:xfrm>
          <a:off x="1337397" y="4344483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CNN outputs a fixed-length visual feature vector.</a:t>
          </a:r>
        </a:p>
      </dsp:txBody>
      <dsp:txXfrm>
        <a:off x="1337397" y="4344483"/>
        <a:ext cx="3360332" cy="11579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9EED8D-75CD-41C7-AB15-14A33D35FF8B}">
      <dsp:nvSpPr>
        <dsp:cNvPr id="0" name=""/>
        <dsp:cNvSpPr/>
      </dsp:nvSpPr>
      <dsp:spPr>
        <a:xfrm>
          <a:off x="0" y="2284"/>
          <a:ext cx="4697730" cy="1157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08E577-0DBA-40DE-B1E5-2249CDCC4169}">
      <dsp:nvSpPr>
        <dsp:cNvPr id="0" name=""/>
        <dsp:cNvSpPr/>
      </dsp:nvSpPr>
      <dsp:spPr>
        <a:xfrm>
          <a:off x="350270" y="262816"/>
          <a:ext cx="636855" cy="6368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287E96-77F9-4060-967C-658A6B1B3CDC}">
      <dsp:nvSpPr>
        <dsp:cNvPr id="0" name=""/>
        <dsp:cNvSpPr/>
      </dsp:nvSpPr>
      <dsp:spPr>
        <a:xfrm>
          <a:off x="1337397" y="2284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Images are resized and normalized before being fed into the model.</a:t>
          </a:r>
        </a:p>
      </dsp:txBody>
      <dsp:txXfrm>
        <a:off x="1337397" y="2284"/>
        <a:ext cx="3360332" cy="1157919"/>
      </dsp:txXfrm>
    </dsp:sp>
    <dsp:sp modelId="{AA64CB13-C711-4209-99A8-82EA03E52117}">
      <dsp:nvSpPr>
        <dsp:cNvPr id="0" name=""/>
        <dsp:cNvSpPr/>
      </dsp:nvSpPr>
      <dsp:spPr>
        <a:xfrm>
          <a:off x="0" y="1449684"/>
          <a:ext cx="4697730" cy="1157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B22AF-72EB-4B35-96BA-9046F1D9CD4F}">
      <dsp:nvSpPr>
        <dsp:cNvPr id="0" name=""/>
        <dsp:cNvSpPr/>
      </dsp:nvSpPr>
      <dsp:spPr>
        <a:xfrm>
          <a:off x="350270" y="1710216"/>
          <a:ext cx="636855" cy="6368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B65539-A8BE-40A3-817D-E6599EC430B2}">
      <dsp:nvSpPr>
        <dsp:cNvPr id="0" name=""/>
        <dsp:cNvSpPr/>
      </dsp:nvSpPr>
      <dsp:spPr>
        <a:xfrm>
          <a:off x="1337397" y="1449684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We use a pre-trained </a:t>
          </a:r>
          <a:r>
            <a:rPr lang="en-US" sz="1900" kern="1200" dirty="0" err="1"/>
            <a:t>EfficientNet</a:t>
          </a:r>
          <a:r>
            <a:rPr lang="en-US" sz="1900" kern="1200" dirty="0"/>
            <a:t> as the image encoder.</a:t>
          </a:r>
        </a:p>
      </dsp:txBody>
      <dsp:txXfrm>
        <a:off x="1337397" y="1449684"/>
        <a:ext cx="3360332" cy="1157919"/>
      </dsp:txXfrm>
    </dsp:sp>
    <dsp:sp modelId="{78747AD6-FCFB-404D-BE89-B381FB0212A3}">
      <dsp:nvSpPr>
        <dsp:cNvPr id="0" name=""/>
        <dsp:cNvSpPr/>
      </dsp:nvSpPr>
      <dsp:spPr>
        <a:xfrm>
          <a:off x="0" y="2897083"/>
          <a:ext cx="4697730" cy="1157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6CFDAA-0158-47F9-BBB7-4EBE80D7DB8E}">
      <dsp:nvSpPr>
        <dsp:cNvPr id="0" name=""/>
        <dsp:cNvSpPr/>
      </dsp:nvSpPr>
      <dsp:spPr>
        <a:xfrm>
          <a:off x="350270" y="3157615"/>
          <a:ext cx="636855" cy="6368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3F381-F005-43FB-9BC6-1351425ADC44}">
      <dsp:nvSpPr>
        <dsp:cNvPr id="0" name=""/>
        <dsp:cNvSpPr/>
      </dsp:nvSpPr>
      <dsp:spPr>
        <a:xfrm>
          <a:off x="1337397" y="2897083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classification head is removed.</a:t>
          </a:r>
        </a:p>
      </dsp:txBody>
      <dsp:txXfrm>
        <a:off x="1337397" y="2897083"/>
        <a:ext cx="3360332" cy="1157919"/>
      </dsp:txXfrm>
    </dsp:sp>
    <dsp:sp modelId="{FED93CD0-3F54-40B0-88A0-F3F62026ADA2}">
      <dsp:nvSpPr>
        <dsp:cNvPr id="0" name=""/>
        <dsp:cNvSpPr/>
      </dsp:nvSpPr>
      <dsp:spPr>
        <a:xfrm>
          <a:off x="0" y="4344483"/>
          <a:ext cx="4697730" cy="1157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3E68D9-CDB8-4B94-A600-4510D21A5ADD}">
      <dsp:nvSpPr>
        <dsp:cNvPr id="0" name=""/>
        <dsp:cNvSpPr/>
      </dsp:nvSpPr>
      <dsp:spPr>
        <a:xfrm>
          <a:off x="350270" y="4605015"/>
          <a:ext cx="636855" cy="6368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E5CBF0-BAC8-4C11-BD07-D836526BDA4A}">
      <dsp:nvSpPr>
        <dsp:cNvPr id="0" name=""/>
        <dsp:cNvSpPr/>
      </dsp:nvSpPr>
      <dsp:spPr>
        <a:xfrm>
          <a:off x="1337397" y="4344483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CNN outputs a fixed-length visual feature vector.</a:t>
          </a:r>
        </a:p>
      </dsp:txBody>
      <dsp:txXfrm>
        <a:off x="1337397" y="4344483"/>
        <a:ext cx="3360332" cy="11579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10C4DA-C7C3-4C1B-AECD-C4D0153A9077}">
      <dsp:nvSpPr>
        <dsp:cNvPr id="0" name=""/>
        <dsp:cNvSpPr/>
      </dsp:nvSpPr>
      <dsp:spPr>
        <a:xfrm>
          <a:off x="0" y="54331"/>
          <a:ext cx="5000124" cy="1286634"/>
        </a:xfrm>
        <a:prstGeom prst="roundRect">
          <a:avLst/>
        </a:prstGeom>
        <a:gradFill rotWithShape="0">
          <a:gsLst>
            <a:gs pos="0">
              <a:schemeClr val="tx2">
                <a:lumMod val="75000"/>
                <a:alpha val="70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We built a modern multimodal retrieval system.</a:t>
          </a:r>
        </a:p>
      </dsp:txBody>
      <dsp:txXfrm>
        <a:off x="62808" y="117139"/>
        <a:ext cx="4874508" cy="1161018"/>
      </dsp:txXfrm>
    </dsp:sp>
    <dsp:sp modelId="{875544AC-1413-4549-89C2-C2F85B5FF9FC}">
      <dsp:nvSpPr>
        <dsp:cNvPr id="0" name=""/>
        <dsp:cNvSpPr/>
      </dsp:nvSpPr>
      <dsp:spPr>
        <a:xfrm>
          <a:off x="0" y="1407205"/>
          <a:ext cx="5000124" cy="1286634"/>
        </a:xfrm>
        <a:prstGeom prst="roundRect">
          <a:avLst/>
        </a:prstGeom>
        <a:gradFill rotWithShape="0">
          <a:gsLst>
            <a:gs pos="100000">
              <a:schemeClr val="tx2">
                <a:lumMod val="20000"/>
                <a:lumOff val="80000"/>
              </a:schemeClr>
            </a:gs>
            <a:gs pos="0">
              <a:schemeClr val="tx2">
                <a:lumMod val="75000"/>
                <a:alpha val="7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The approach differs from classical classification but solves the same problem more effectively.</a:t>
          </a:r>
        </a:p>
      </dsp:txBody>
      <dsp:txXfrm>
        <a:off x="62808" y="1470013"/>
        <a:ext cx="4874508" cy="1161018"/>
      </dsp:txXfrm>
    </dsp:sp>
    <dsp:sp modelId="{D8698138-7011-489E-8A87-7BCEEA6F93B8}">
      <dsp:nvSpPr>
        <dsp:cNvPr id="0" name=""/>
        <dsp:cNvSpPr/>
      </dsp:nvSpPr>
      <dsp:spPr>
        <a:xfrm>
          <a:off x="0" y="2760080"/>
          <a:ext cx="5000124" cy="1286634"/>
        </a:xfrm>
        <a:prstGeom prst="roundRect">
          <a:avLst/>
        </a:prstGeom>
        <a:gradFill rotWithShape="0">
          <a:gsLst>
            <a:gs pos="100000">
              <a:schemeClr val="tx2">
                <a:lumMod val="20000"/>
                <a:lumOff val="80000"/>
              </a:schemeClr>
            </a:gs>
            <a:gs pos="0">
              <a:schemeClr val="tx2">
                <a:lumMod val="75000"/>
                <a:alpha val="7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The system is efficient, scalable, and interpretable.</a:t>
          </a:r>
        </a:p>
      </dsp:txBody>
      <dsp:txXfrm>
        <a:off x="62808" y="2822888"/>
        <a:ext cx="4874508" cy="1161018"/>
      </dsp:txXfrm>
    </dsp:sp>
    <dsp:sp modelId="{56AFED4C-179C-4BB3-9DCB-DAE86FB7956A}">
      <dsp:nvSpPr>
        <dsp:cNvPr id="0" name=""/>
        <dsp:cNvSpPr/>
      </dsp:nvSpPr>
      <dsp:spPr>
        <a:xfrm>
          <a:off x="0" y="4112954"/>
          <a:ext cx="5000124" cy="1286634"/>
        </a:xfrm>
        <a:prstGeom prst="roundRect">
          <a:avLst/>
        </a:prstGeom>
        <a:gradFill rotWithShape="0">
          <a:gsLst>
            <a:gs pos="0">
              <a:schemeClr val="tx2">
                <a:lumMod val="75000"/>
                <a:alpha val="70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The project demonstrates the strengths of joint image</a:t>
          </a:r>
          <a:r>
            <a:rPr lang="hu-HU" sz="2300" kern="1200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 - </a:t>
          </a:r>
          <a:r>
            <a:rPr lang="en-US" sz="2300" kern="1200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text representation learning.</a:t>
          </a:r>
        </a:p>
      </dsp:txBody>
      <dsp:txXfrm>
        <a:off x="62808" y="4175762"/>
        <a:ext cx="4874508" cy="11610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10C4DA-C7C3-4C1B-AECD-C4D0153A9077}">
      <dsp:nvSpPr>
        <dsp:cNvPr id="0" name=""/>
        <dsp:cNvSpPr/>
      </dsp:nvSpPr>
      <dsp:spPr>
        <a:xfrm>
          <a:off x="0" y="54331"/>
          <a:ext cx="5000124" cy="1286634"/>
        </a:xfrm>
        <a:prstGeom prst="roundRect">
          <a:avLst/>
        </a:prstGeom>
        <a:gradFill rotWithShape="0">
          <a:gsLst>
            <a:gs pos="0">
              <a:schemeClr val="tx2">
                <a:lumMod val="75000"/>
                <a:alpha val="70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We built a modern multimodal retrieval system.</a:t>
          </a:r>
        </a:p>
      </dsp:txBody>
      <dsp:txXfrm>
        <a:off x="62808" y="117139"/>
        <a:ext cx="4874508" cy="1161018"/>
      </dsp:txXfrm>
    </dsp:sp>
    <dsp:sp modelId="{875544AC-1413-4549-89C2-C2F85B5FF9FC}">
      <dsp:nvSpPr>
        <dsp:cNvPr id="0" name=""/>
        <dsp:cNvSpPr/>
      </dsp:nvSpPr>
      <dsp:spPr>
        <a:xfrm>
          <a:off x="0" y="1407205"/>
          <a:ext cx="5000124" cy="1286634"/>
        </a:xfrm>
        <a:prstGeom prst="roundRect">
          <a:avLst/>
        </a:prstGeom>
        <a:gradFill rotWithShape="0">
          <a:gsLst>
            <a:gs pos="100000">
              <a:schemeClr val="tx2">
                <a:lumMod val="20000"/>
                <a:lumOff val="80000"/>
              </a:schemeClr>
            </a:gs>
            <a:gs pos="0">
              <a:schemeClr val="tx2">
                <a:lumMod val="75000"/>
                <a:alpha val="7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The approach differs from classical classification but solves the same problem more effectively.</a:t>
          </a:r>
        </a:p>
      </dsp:txBody>
      <dsp:txXfrm>
        <a:off x="62808" y="1470013"/>
        <a:ext cx="4874508" cy="1161018"/>
      </dsp:txXfrm>
    </dsp:sp>
    <dsp:sp modelId="{D8698138-7011-489E-8A87-7BCEEA6F93B8}">
      <dsp:nvSpPr>
        <dsp:cNvPr id="0" name=""/>
        <dsp:cNvSpPr/>
      </dsp:nvSpPr>
      <dsp:spPr>
        <a:xfrm>
          <a:off x="0" y="2760080"/>
          <a:ext cx="5000124" cy="1286634"/>
        </a:xfrm>
        <a:prstGeom prst="roundRect">
          <a:avLst/>
        </a:prstGeom>
        <a:gradFill rotWithShape="0">
          <a:gsLst>
            <a:gs pos="100000">
              <a:schemeClr val="tx2">
                <a:lumMod val="20000"/>
                <a:lumOff val="80000"/>
              </a:schemeClr>
            </a:gs>
            <a:gs pos="0">
              <a:schemeClr val="tx2">
                <a:lumMod val="75000"/>
                <a:alpha val="7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The system is efficient, scalable, and interpretable.</a:t>
          </a:r>
        </a:p>
      </dsp:txBody>
      <dsp:txXfrm>
        <a:off x="62808" y="2822888"/>
        <a:ext cx="4874508" cy="1161018"/>
      </dsp:txXfrm>
    </dsp:sp>
    <dsp:sp modelId="{56AFED4C-179C-4BB3-9DCB-DAE86FB7956A}">
      <dsp:nvSpPr>
        <dsp:cNvPr id="0" name=""/>
        <dsp:cNvSpPr/>
      </dsp:nvSpPr>
      <dsp:spPr>
        <a:xfrm>
          <a:off x="0" y="4112954"/>
          <a:ext cx="5000124" cy="1286634"/>
        </a:xfrm>
        <a:prstGeom prst="roundRect">
          <a:avLst/>
        </a:prstGeom>
        <a:gradFill rotWithShape="0">
          <a:gsLst>
            <a:gs pos="0">
              <a:schemeClr val="tx2">
                <a:lumMod val="75000"/>
                <a:alpha val="70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The project demonstrates the strengths of joint image</a:t>
          </a:r>
          <a:r>
            <a:rPr lang="hu-HU" sz="2300" kern="1200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 - </a:t>
          </a:r>
          <a:r>
            <a:rPr lang="en-US" sz="2300" kern="1200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text representation learning.</a:t>
          </a:r>
        </a:p>
      </dsp:txBody>
      <dsp:txXfrm>
        <a:off x="62808" y="4175762"/>
        <a:ext cx="4874508" cy="11610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CCF12-32A2-491F-AF5E-33DFD1219C70}" type="datetimeFigureOut">
              <a:rPr lang="hu-HU" smtClean="0"/>
              <a:t>2026. 01. 07.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AC93E-AC3F-4E00-9CB2-B577A36D04A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0936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2AC93E-AC3F-4E00-9CB2-B577A36D04A4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2088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 sz="32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algn="l"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l"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l"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l"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l"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0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7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sv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3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27537A3-0C9C-E1CF-C154-5224833BD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0148" y="818984"/>
            <a:ext cx="4947184" cy="3268520"/>
          </a:xfrm>
        </p:spPr>
        <p:txBody>
          <a:bodyPr>
            <a:normAutofit/>
          </a:bodyPr>
          <a:lstStyle/>
          <a:p>
            <a:pPr algn="r"/>
            <a:r>
              <a:rPr lang="hu-HU" sz="4200" dirty="0" err="1">
                <a:solidFill>
                  <a:srgbClr val="FFFFFF"/>
                </a:solidFill>
              </a:rPr>
              <a:t>Multimodal</a:t>
            </a:r>
            <a:r>
              <a:rPr lang="hu-HU" sz="4200" dirty="0">
                <a:solidFill>
                  <a:srgbClr val="FFFFFF"/>
                </a:solidFill>
              </a:rPr>
              <a:t> Image - Text </a:t>
            </a:r>
            <a:r>
              <a:rPr lang="hu-HU" sz="4200" dirty="0" err="1">
                <a:solidFill>
                  <a:srgbClr val="FFFFFF"/>
                </a:solidFill>
              </a:rPr>
              <a:t>Retrieval</a:t>
            </a:r>
            <a:r>
              <a:rPr lang="hu-HU" sz="4200" dirty="0">
                <a:solidFill>
                  <a:srgbClr val="FFFFFF"/>
                </a:solidFill>
              </a:rPr>
              <a:t> System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598FFF3-A647-9E2F-9630-147A80455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905" y="4797188"/>
            <a:ext cx="4538427" cy="1241828"/>
          </a:xfrm>
        </p:spPr>
        <p:txBody>
          <a:bodyPr>
            <a:normAutofit/>
          </a:bodyPr>
          <a:lstStyle/>
          <a:p>
            <a:pPr algn="r"/>
            <a:r>
              <a:rPr lang="hu-HU" dirty="0">
                <a:solidFill>
                  <a:srgbClr val="FFFFFF"/>
                </a:solidFill>
              </a:rPr>
              <a:t>CLIP-like </a:t>
            </a:r>
            <a:r>
              <a:rPr lang="hu-HU" dirty="0" err="1">
                <a:solidFill>
                  <a:srgbClr val="FFFFFF"/>
                </a:solidFill>
              </a:rPr>
              <a:t>Architecture</a:t>
            </a:r>
            <a:r>
              <a:rPr lang="hu-HU" dirty="0">
                <a:solidFill>
                  <a:srgbClr val="FFFFFF"/>
                </a:solidFill>
              </a:rPr>
              <a:t> </a:t>
            </a:r>
            <a:r>
              <a:rPr lang="hu-HU" dirty="0" err="1">
                <a:solidFill>
                  <a:srgbClr val="FFFFFF"/>
                </a:solidFill>
              </a:rPr>
              <a:t>on</a:t>
            </a:r>
            <a:r>
              <a:rPr lang="hu-HU" dirty="0">
                <a:solidFill>
                  <a:srgbClr val="FFFFFF"/>
                </a:solidFill>
              </a:rPr>
              <a:t> Flickr30k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776C47D3-C25F-B546-D9AD-ECD5EBAF2CB9}"/>
              </a:ext>
            </a:extLst>
          </p:cNvPr>
          <p:cNvSpPr txBox="1"/>
          <p:nvPr/>
        </p:nvSpPr>
        <p:spPr>
          <a:xfrm>
            <a:off x="6449806" y="4797188"/>
            <a:ext cx="2086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Balazs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Vincze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Bertalan Tóth</a:t>
            </a:r>
          </a:p>
        </p:txBody>
      </p:sp>
    </p:spTree>
    <p:extLst>
      <p:ext uri="{BB962C8B-B14F-4D97-AF65-F5344CB8AC3E}">
        <p14:creationId xmlns:p14="http://schemas.microsoft.com/office/powerpoint/2010/main" val="2771068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hu-HU" sz="3500">
                <a:solidFill>
                  <a:srgbClr val="FFFFFF"/>
                </a:solidFill>
              </a:rPr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The goal of this project is to build a </a:t>
            </a:r>
            <a:r>
              <a:rPr lang="en-US" sz="1700" b="1"/>
              <a:t>multimodal system</a:t>
            </a:r>
            <a:r>
              <a:rPr lang="en-US" sz="1700"/>
              <a:t> that retrieves relevant images based on a text query.</a:t>
            </a:r>
          </a:p>
          <a:p>
            <a:r>
              <a:rPr lang="en-US" sz="1700"/>
              <a:t>The main challenge is combining </a:t>
            </a:r>
            <a:r>
              <a:rPr lang="en-US" sz="1700" b="1"/>
              <a:t>visual information (images)</a:t>
            </a:r>
            <a:r>
              <a:rPr lang="en-US" sz="1700"/>
              <a:t> and </a:t>
            </a:r>
            <a:r>
              <a:rPr lang="en-US" sz="1700" b="1"/>
              <a:t>textual information (natural language)</a:t>
            </a:r>
            <a:r>
              <a:rPr lang="en-US" sz="1700"/>
              <a:t>.</a:t>
            </a:r>
          </a:p>
          <a:p>
            <a:r>
              <a:rPr lang="en-US" sz="1700"/>
              <a:t>We aim to learn a </a:t>
            </a:r>
            <a:r>
              <a:rPr lang="en-US" sz="1700" b="1"/>
              <a:t>shared representation space</a:t>
            </a:r>
            <a:r>
              <a:rPr lang="en-US" sz="1700"/>
              <a:t> where images and texts with similar meaning are close to each other.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Classical Approach from the Project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The project description suggests a classical multimodal pipeline:</a:t>
            </a:r>
          </a:p>
          <a:p>
            <a:pPr lvl="1"/>
            <a:r>
              <a:rPr lang="en-US" sz="1700"/>
              <a:t>CNN for image feature extraction</a:t>
            </a:r>
            <a:br>
              <a:rPr lang="en-US" sz="1700"/>
            </a:br>
            <a:r>
              <a:rPr lang="en-US" sz="1700"/>
              <a:t>Word embeddings + RNN (LSTM/GRU) for text</a:t>
            </a:r>
          </a:p>
          <a:p>
            <a:pPr lvl="1"/>
            <a:r>
              <a:rPr lang="en-US" sz="1700"/>
              <a:t>Fusion of both branches</a:t>
            </a:r>
          </a:p>
          <a:p>
            <a:pPr lvl="1"/>
            <a:r>
              <a:rPr lang="en-US" sz="1700"/>
              <a:t>Softmax-based classification</a:t>
            </a:r>
          </a:p>
          <a:p>
            <a:r>
              <a:rPr lang="en-US" sz="1700"/>
              <a:t>This approach works well for fixed-category classification tasks.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Why We Deviated from the Classical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Our task is not to predict a fixed class label.</a:t>
            </a:r>
          </a:p>
          <a:p>
            <a:r>
              <a:rPr lang="en-US" sz="1700"/>
              <a:t>Instead, we want to answer:</a:t>
            </a:r>
          </a:p>
          <a:p>
            <a:pPr lvl="1"/>
            <a:r>
              <a:rPr lang="en-US" sz="1700"/>
              <a:t>“Which images best match a given text description?”</a:t>
            </a:r>
          </a:p>
          <a:p>
            <a:r>
              <a:rPr lang="en-US" sz="1700"/>
              <a:t>This is better modeled as a retrieval and ranking problem, not strict classification.</a:t>
            </a:r>
          </a:p>
          <a:p>
            <a:r>
              <a:rPr lang="en-US" sz="1700"/>
              <a:t>Therefore, we adopted a CLIP-style retrieval approach, which better fits the task.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hu-HU" sz="3500"/>
              <a:t>High-Level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The system consists of two independent neural networks:</a:t>
            </a:r>
          </a:p>
          <a:p>
            <a:pPr lvl="1"/>
            <a:r>
              <a:rPr lang="en-US" sz="1700"/>
              <a:t>An image encoder</a:t>
            </a:r>
          </a:p>
          <a:p>
            <a:pPr lvl="1"/>
            <a:r>
              <a:rPr lang="en-US" sz="1700"/>
              <a:t>A text encoder</a:t>
            </a:r>
          </a:p>
          <a:p>
            <a:r>
              <a:rPr lang="en-US" sz="1700"/>
              <a:t>Both encoders map their inputs into a shared embedding space.</a:t>
            </a:r>
          </a:p>
          <a:p>
            <a:r>
              <a:rPr lang="en-US" sz="1700"/>
              <a:t>Similar images and texts are close in this space.</a:t>
            </a:r>
          </a:p>
        </p:txBody>
      </p:sp>
      <p:pic>
        <p:nvPicPr>
          <p:cNvPr id="5" name="Picture 4" descr="Absztrakt háttér">
            <a:extLst>
              <a:ext uri="{FF2B5EF4-FFF2-40B4-BE49-F238E27FC236}">
                <a16:creationId xmlns:a16="http://schemas.microsoft.com/office/drawing/2014/main" id="{2AF05D83-89B9-A1E3-8725-D4436DF409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754" r="1020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hu-HU" sz="3500">
                <a:solidFill>
                  <a:srgbClr val="FFFFFF"/>
                </a:solidFill>
              </a:rPr>
              <a:t>Dataset: Flickr30k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We use the Flickr30k dataset, which contains:</a:t>
            </a:r>
          </a:p>
          <a:p>
            <a:pPr lvl="1"/>
            <a:r>
              <a:rPr lang="en-US" sz="1700"/>
              <a:t>Images</a:t>
            </a:r>
          </a:p>
          <a:p>
            <a:pPr lvl="1"/>
            <a:r>
              <a:rPr lang="en-US" sz="1700"/>
              <a:t>Multiple natural-language captions per image</a:t>
            </a:r>
          </a:p>
          <a:p>
            <a:pPr lvl="1"/>
            <a:r>
              <a:rPr lang="en-US" sz="1700"/>
              <a:t>Each training sample is a single image - caption pair.</a:t>
            </a:r>
          </a:p>
          <a:p>
            <a:r>
              <a:rPr lang="en-US" sz="1700"/>
              <a:t>This dataset is well suited for multimodal learning.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8E065583-BC46-3466-08BD-0366145958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5667703"/>
              </p:ext>
            </p:extLst>
          </p:nvPr>
        </p:nvGraphicFramePr>
        <p:xfrm>
          <a:off x="3819906" y="-5652613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hu-HU" sz="4200"/>
              <a:t>Image Processing Branch (CNN)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A38288B-5AAB-8F20-E0A8-ED2180E9DB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1613365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17" descr="Számítógépes szkript a képernyőn">
            <a:extLst>
              <a:ext uri="{FF2B5EF4-FFF2-40B4-BE49-F238E27FC236}">
                <a16:creationId xmlns:a16="http://schemas.microsoft.com/office/drawing/2014/main" id="{6B9DD3AA-76B0-E465-6A32-D8F4D1DD916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367" r="50139" b="-2"/>
          <a:stretch>
            <a:fillRect/>
          </a:stretch>
        </p:blipFill>
        <p:spPr>
          <a:xfrm>
            <a:off x="20" y="-6931758"/>
            <a:ext cx="4057627" cy="6858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Számítógépes szkript a képernyőn">
            <a:extLst>
              <a:ext uri="{FF2B5EF4-FFF2-40B4-BE49-F238E27FC236}">
                <a16:creationId xmlns:a16="http://schemas.microsoft.com/office/drawing/2014/main" id="{B58522DB-FAB2-6C74-4414-0F58A96D04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67" r="50139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hu-HU" sz="3500"/>
              <a:t>Text Processing Branch (BERT)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US" sz="1700"/>
              <a:t>Text input is tokenized using a BERT tokenizer.</a:t>
            </a:r>
          </a:p>
          <a:p>
            <a:r>
              <a:rPr lang="en-US" sz="1700"/>
              <a:t>A pre-trained BERT model processes the full sentence.</a:t>
            </a:r>
          </a:p>
          <a:p>
            <a:r>
              <a:rPr lang="en-US" sz="1700"/>
              <a:t>The [CLS] token output is used as the sentence representation.</a:t>
            </a:r>
          </a:p>
          <a:p>
            <a:r>
              <a:rPr lang="en-US" sz="1700"/>
              <a:t>BERT replaces the need for a separate RNN-based text encoder.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C0F031E-A408-9978-D69E-4295092377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6780856"/>
              </p:ext>
            </p:extLst>
          </p:nvPr>
        </p:nvGraphicFramePr>
        <p:xfrm>
          <a:off x="3819906" y="6952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Projection Head and Shared Embedding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CNN and BERT outputs are not directly comparable.</a:t>
            </a:r>
          </a:p>
          <a:p>
            <a:r>
              <a:rPr lang="en-US" sz="1700"/>
              <a:t>A projection head is applied to both:</a:t>
            </a:r>
          </a:p>
          <a:p>
            <a:pPr lvl="1"/>
            <a:r>
              <a:rPr lang="en-US" sz="1700"/>
              <a:t>Linear transformation</a:t>
            </a:r>
          </a:p>
          <a:p>
            <a:pPr lvl="1"/>
            <a:r>
              <a:rPr lang="en-US" sz="1700"/>
              <a:t>L2 normalization</a:t>
            </a:r>
          </a:p>
          <a:p>
            <a:r>
              <a:rPr lang="en-US" sz="1700"/>
              <a:t>This maps both modalities into the same embedding space.</a:t>
            </a:r>
          </a:p>
        </p:txBody>
      </p:sp>
      <p:pic>
        <p:nvPicPr>
          <p:cNvPr id="4" name="Picture 17" descr="Számítógépes szkript a képernyőn">
            <a:extLst>
              <a:ext uri="{FF2B5EF4-FFF2-40B4-BE49-F238E27FC236}">
                <a16:creationId xmlns:a16="http://schemas.microsoft.com/office/drawing/2014/main" id="{6A9585BC-E68C-8644-4081-CE2AACFED9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67" r="50139" b="-2"/>
          <a:stretch>
            <a:fillRect/>
          </a:stretch>
        </p:blipFill>
        <p:spPr>
          <a:xfrm>
            <a:off x="20" y="6951424"/>
            <a:ext cx="4057627" cy="6858002"/>
          </a:xfrm>
          <a:prstGeom prst="rect">
            <a:avLst/>
          </a:prstGeom>
        </p:spPr>
      </p:pic>
      <p:pic>
        <p:nvPicPr>
          <p:cNvPr id="5" name="Picture 17" descr="Rajzpapírrajzok">
            <a:extLst>
              <a:ext uri="{FF2B5EF4-FFF2-40B4-BE49-F238E27FC236}">
                <a16:creationId xmlns:a16="http://schemas.microsoft.com/office/drawing/2014/main" id="{D8EB212B-270D-DC8C-2E2A-0C0A31C7B3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25" r="40381" b="-2"/>
          <a:stretch>
            <a:fillRect/>
          </a:stretch>
        </p:blipFill>
        <p:spPr>
          <a:xfrm>
            <a:off x="20" y="-6940068"/>
            <a:ext cx="4057627" cy="6858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Rajzpapírrajzok">
            <a:extLst>
              <a:ext uri="{FF2B5EF4-FFF2-40B4-BE49-F238E27FC236}">
                <a16:creationId xmlns:a16="http://schemas.microsoft.com/office/drawing/2014/main" id="{4549F596-D97E-1FD2-966F-E4CC88AFB3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25" r="40381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hu-HU" sz="3500"/>
              <a:t>Training with Contrastive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US" sz="1700"/>
              <a:t>The model is trained using contrastive learning.</a:t>
            </a:r>
          </a:p>
          <a:p>
            <a:r>
              <a:rPr lang="en-US" sz="1700"/>
              <a:t>Matching image - text pairs are pulled closer together.</a:t>
            </a:r>
          </a:p>
          <a:p>
            <a:r>
              <a:rPr lang="en-US" sz="1700"/>
              <a:t>Non-matching pairs are pushed apart.</a:t>
            </a:r>
          </a:p>
          <a:p>
            <a:r>
              <a:rPr lang="en-US" sz="1700"/>
              <a:t>This implicitly uses a softmax-based decision within each batch.</a:t>
            </a:r>
          </a:p>
        </p:txBody>
      </p:sp>
      <p:pic>
        <p:nvPicPr>
          <p:cNvPr id="5" name="Graphic 19" descr="Címke">
            <a:extLst>
              <a:ext uri="{FF2B5EF4-FFF2-40B4-BE49-F238E27FC236}">
                <a16:creationId xmlns:a16="http://schemas.microsoft.com/office/drawing/2014/main" id="{B5AF6DEA-F840-4C9B-773E-C61B171E3A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6975" y="-2620655"/>
            <a:ext cx="3127897" cy="312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0"/>
            <a:ext cx="3992787" cy="164297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Why There Is No Classical Classification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692" y="2405894"/>
            <a:ext cx="3986392" cy="3535083"/>
          </a:xfrm>
        </p:spPr>
        <p:txBody>
          <a:bodyPr anchor="t">
            <a:normAutofit/>
          </a:bodyPr>
          <a:lstStyle/>
          <a:p>
            <a:r>
              <a:rPr lang="en-US" sz="1700"/>
              <a:t>The model does not predict predefined class labels.</a:t>
            </a:r>
          </a:p>
          <a:p>
            <a:r>
              <a:rPr lang="en-US" sz="1700"/>
              <a:t>Instead, it ranks images based on similarity to the text.</a:t>
            </a:r>
          </a:p>
          <a:p>
            <a:r>
              <a:rPr lang="en-US" sz="1700"/>
              <a:t>Each image acts as a dynamic “class” during retrieval.</a:t>
            </a:r>
          </a:p>
          <a:p>
            <a:r>
              <a:rPr lang="en-US" sz="1700"/>
              <a:t>This is equivalent to implicit classification over candidates.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Graphic 19" descr="Címke">
            <a:extLst>
              <a:ext uri="{FF2B5EF4-FFF2-40B4-BE49-F238E27FC236}">
                <a16:creationId xmlns:a16="http://schemas.microsoft.com/office/drawing/2014/main" id="{445AD686-570D-A39F-784E-A62976576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6975" y="1880998"/>
            <a:ext cx="3127897" cy="3127897"/>
          </a:xfrm>
          <a:prstGeom prst="rect">
            <a:avLst/>
          </a:prstGeom>
        </p:spPr>
      </p:pic>
      <p:pic>
        <p:nvPicPr>
          <p:cNvPr id="6" name="Graphic 19" descr="Kép">
            <a:extLst>
              <a:ext uri="{FF2B5EF4-FFF2-40B4-BE49-F238E27FC236}">
                <a16:creationId xmlns:a16="http://schemas.microsoft.com/office/drawing/2014/main" id="{9D17DAB9-6817-43BE-A199-A904F763FC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59375" y="-2702732"/>
            <a:ext cx="3127897" cy="3127897"/>
          </a:xfrm>
          <a:prstGeom prst="rect">
            <a:avLst/>
          </a:prstGeom>
        </p:spPr>
      </p:pic>
      <p:pic>
        <p:nvPicPr>
          <p:cNvPr id="4" name="Picture 17" descr="Rajzpapírrajzok">
            <a:extLst>
              <a:ext uri="{FF2B5EF4-FFF2-40B4-BE49-F238E27FC236}">
                <a16:creationId xmlns:a16="http://schemas.microsoft.com/office/drawing/2014/main" id="{D4E2EA2C-A4DF-A92B-5334-E9FE815C781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125" r="40381" b="-2"/>
          <a:stretch>
            <a:fillRect/>
          </a:stretch>
        </p:blipFill>
        <p:spPr>
          <a:xfrm>
            <a:off x="20" y="6986953"/>
            <a:ext cx="4057627" cy="6858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0"/>
            <a:ext cx="3992787" cy="1642970"/>
          </a:xfrm>
        </p:spPr>
        <p:txBody>
          <a:bodyPr anchor="b">
            <a:normAutofit/>
          </a:bodyPr>
          <a:lstStyle/>
          <a:p>
            <a:r>
              <a:rPr lang="hu-HU" sz="3500"/>
              <a:t>Image Embedding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692" y="2405894"/>
            <a:ext cx="3986392" cy="3535083"/>
          </a:xfrm>
        </p:spPr>
        <p:txBody>
          <a:bodyPr anchor="t">
            <a:normAutofit/>
          </a:bodyPr>
          <a:lstStyle/>
          <a:p>
            <a:r>
              <a:rPr lang="en-US" sz="1700"/>
              <a:t>Image embeddings are computed offline after training.</a:t>
            </a:r>
          </a:p>
          <a:p>
            <a:r>
              <a:rPr lang="en-US" sz="1700"/>
              <a:t>All image embeddings are stored in an index file.</a:t>
            </a:r>
          </a:p>
          <a:p>
            <a:r>
              <a:rPr lang="en-US" sz="1700"/>
              <a:t>During inference:</a:t>
            </a:r>
          </a:p>
          <a:p>
            <a:pPr lvl="1"/>
            <a:r>
              <a:rPr lang="en-US" sz="1700"/>
              <a:t>The CNN is not executed</a:t>
            </a:r>
          </a:p>
          <a:p>
            <a:pPr lvl="1"/>
            <a:r>
              <a:rPr lang="en-US" sz="1700"/>
              <a:t>Only text processing is required</a:t>
            </a:r>
          </a:p>
          <a:p>
            <a:r>
              <a:rPr lang="en-US" sz="1700"/>
              <a:t>This significantly improves performance.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Graphic 19" descr="Kép">
            <a:extLst>
              <a:ext uri="{FF2B5EF4-FFF2-40B4-BE49-F238E27FC236}">
                <a16:creationId xmlns:a16="http://schemas.microsoft.com/office/drawing/2014/main" id="{0BE4DDB7-68CF-447E-92E0-2DA4F47F7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6975" y="1880998"/>
            <a:ext cx="3127897" cy="3127897"/>
          </a:xfrm>
          <a:prstGeom prst="rect">
            <a:avLst/>
          </a:prstGeom>
        </p:spPr>
      </p:pic>
      <p:pic>
        <p:nvPicPr>
          <p:cNvPr id="6" name="Graphic 19" descr="Címke">
            <a:extLst>
              <a:ext uri="{FF2B5EF4-FFF2-40B4-BE49-F238E27FC236}">
                <a16:creationId xmlns:a16="http://schemas.microsoft.com/office/drawing/2014/main" id="{904F1346-2CAE-126D-61E2-50CD36510E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59375" y="6347492"/>
            <a:ext cx="3127897" cy="3127897"/>
          </a:xfrm>
          <a:prstGeom prst="rect">
            <a:avLst/>
          </a:prstGeom>
        </p:spPr>
      </p:pic>
      <p:pic>
        <p:nvPicPr>
          <p:cNvPr id="7" name="Graphic 19" descr="Feliratok">
            <a:extLst>
              <a:ext uri="{FF2B5EF4-FFF2-40B4-BE49-F238E27FC236}">
                <a16:creationId xmlns:a16="http://schemas.microsoft.com/office/drawing/2014/main" id="{472A8E46-3819-FB54-9F26-26D7B82EFC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35929" y="-2655827"/>
            <a:ext cx="3127897" cy="312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0"/>
            <a:ext cx="3992787" cy="1642970"/>
          </a:xfrm>
        </p:spPr>
        <p:txBody>
          <a:bodyPr anchor="b">
            <a:normAutofit/>
          </a:bodyPr>
          <a:lstStyle/>
          <a:p>
            <a:r>
              <a:rPr lang="hu-HU" sz="3500"/>
              <a:t>Inference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692" y="2405894"/>
            <a:ext cx="3986392" cy="3535083"/>
          </a:xfrm>
        </p:spPr>
        <p:txBody>
          <a:bodyPr anchor="t">
            <a:normAutofit/>
          </a:bodyPr>
          <a:lstStyle/>
          <a:p>
            <a:r>
              <a:rPr lang="en-US" sz="1700" dirty="0"/>
              <a:t>User enters a text query.</a:t>
            </a:r>
          </a:p>
          <a:p>
            <a:r>
              <a:rPr lang="en-US" sz="1700" dirty="0"/>
              <a:t>The text is encoded using BERT.</a:t>
            </a:r>
          </a:p>
          <a:p>
            <a:r>
              <a:rPr lang="en-US" sz="1700" dirty="0"/>
              <a:t>Similarity scores are computed against all image embeddings.</a:t>
            </a:r>
          </a:p>
          <a:p>
            <a:r>
              <a:rPr lang="en-US" sz="1700" dirty="0"/>
              <a:t>The system retrieves the top-k most relevant images.</a:t>
            </a:r>
          </a:p>
        </p:txBody>
      </p:sp>
      <p:sp>
        <p:nvSpPr>
          <p:cNvPr id="37" name="Rectangle 3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Graphic 19" descr="Feliratok">
            <a:extLst>
              <a:ext uri="{FF2B5EF4-FFF2-40B4-BE49-F238E27FC236}">
                <a16:creationId xmlns:a16="http://schemas.microsoft.com/office/drawing/2014/main" id="{675F29B2-BCB0-AAE2-6227-14CEFAF52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6975" y="1880998"/>
            <a:ext cx="3127897" cy="3127897"/>
          </a:xfrm>
          <a:prstGeom prst="rect">
            <a:avLst/>
          </a:prstGeom>
        </p:spPr>
      </p:pic>
      <p:pic>
        <p:nvPicPr>
          <p:cNvPr id="5" name="Graphic 19" descr="Bar chart">
            <a:extLst>
              <a:ext uri="{FF2B5EF4-FFF2-40B4-BE49-F238E27FC236}">
                <a16:creationId xmlns:a16="http://schemas.microsoft.com/office/drawing/2014/main" id="{6769D0A2-8E2B-DF9A-012C-4944E63C51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0637" y="-2740237"/>
            <a:ext cx="3197870" cy="3197870"/>
          </a:xfrm>
          <a:prstGeom prst="rect">
            <a:avLst/>
          </a:prstGeom>
        </p:spPr>
      </p:pic>
      <p:pic>
        <p:nvPicPr>
          <p:cNvPr id="6" name="Graphic 19" descr="Kép">
            <a:extLst>
              <a:ext uri="{FF2B5EF4-FFF2-40B4-BE49-F238E27FC236}">
                <a16:creationId xmlns:a16="http://schemas.microsoft.com/office/drawing/2014/main" id="{30356F78-8BA9-DC14-DB09-DA965C5885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59375" y="6370928"/>
            <a:ext cx="3127897" cy="312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212" y="1326724"/>
            <a:ext cx="3985902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/>
              <a:t>Softmax-Based Ranking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212" y="2433494"/>
            <a:ext cx="3985907" cy="2881456"/>
          </a:xfrm>
        </p:spPr>
        <p:txBody>
          <a:bodyPr anchor="t">
            <a:normAutofit/>
          </a:bodyPr>
          <a:lstStyle/>
          <a:p>
            <a:r>
              <a:rPr lang="en-US" sz="1350" dirty="0"/>
              <a:t>Similarity scores are converted into </a:t>
            </a:r>
            <a:r>
              <a:rPr lang="en-US" sz="1350" dirty="0" err="1"/>
              <a:t>softmax</a:t>
            </a:r>
            <a:r>
              <a:rPr lang="en-US" sz="1350" dirty="0"/>
              <a:t>-normalized values.</a:t>
            </a:r>
            <a:endParaRPr lang="hu-HU" sz="1350" dirty="0"/>
          </a:p>
          <a:p>
            <a:r>
              <a:rPr lang="en-US" sz="1350" dirty="0" err="1"/>
              <a:t>Softmax</a:t>
            </a:r>
            <a:r>
              <a:rPr lang="en-US" sz="1350" dirty="0"/>
              <a:t> is applied only to the top-5 results.</a:t>
            </a:r>
            <a:endParaRPr lang="hu-HU" sz="1350" dirty="0"/>
          </a:p>
          <a:p>
            <a:r>
              <a:rPr lang="en-US" sz="1350" dirty="0"/>
              <a:t>This does not change the ranking.</a:t>
            </a:r>
            <a:endParaRPr lang="hu-HU" sz="1350" dirty="0"/>
          </a:p>
          <a:p>
            <a:r>
              <a:rPr lang="en-US" sz="1350" dirty="0"/>
              <a:t>It provides interpretable percentage-based relevance scores.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19600" y="0"/>
            <a:ext cx="4724400" cy="4919011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2AC6D7F-F068-4E11-BB06-F601D89BB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561" y="1505"/>
            <a:ext cx="4583439" cy="4762908"/>
          </a:xfrm>
          <a:custGeom>
            <a:avLst/>
            <a:gdLst>
              <a:gd name="connsiteX0" fmla="*/ 1041368 w 5441859"/>
              <a:gd name="connsiteY0" fmla="*/ 0 h 5654940"/>
              <a:gd name="connsiteX1" fmla="*/ 5441859 w 5441859"/>
              <a:gd name="connsiteY1" fmla="*/ 0 h 5654940"/>
              <a:gd name="connsiteX2" fmla="*/ 5441859 w 5441859"/>
              <a:gd name="connsiteY2" fmla="*/ 4820612 h 5654940"/>
              <a:gd name="connsiteX3" fmla="*/ 5285166 w 5441859"/>
              <a:gd name="connsiteY3" fmla="*/ 4957981 h 5654940"/>
              <a:gd name="connsiteX4" fmla="*/ 3267719 w 5441859"/>
              <a:gd name="connsiteY4" fmla="*/ 5654940 h 5654940"/>
              <a:gd name="connsiteX5" fmla="*/ 0 w 5441859"/>
              <a:gd name="connsiteY5" fmla="*/ 2387221 h 5654940"/>
              <a:gd name="connsiteX6" fmla="*/ 957093 w 5441859"/>
              <a:gd name="connsiteY6" fmla="*/ 76595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0" name="Graphic 19" descr="Bar chart">
            <a:extLst>
              <a:ext uri="{FF2B5EF4-FFF2-40B4-BE49-F238E27FC236}">
                <a16:creationId xmlns:a16="http://schemas.microsoft.com/office/drawing/2014/main" id="{2FD0FF81-E13F-FFE2-AA51-5B3048D8C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2767" y="485518"/>
            <a:ext cx="3197870" cy="3197870"/>
          </a:xfrm>
          <a:prstGeom prst="rect">
            <a:avLst/>
          </a:prstGeom>
        </p:spPr>
      </p:pic>
      <p:pic>
        <p:nvPicPr>
          <p:cNvPr id="5" name="Graphic 19" descr="Feliratok">
            <a:extLst>
              <a:ext uri="{FF2B5EF4-FFF2-40B4-BE49-F238E27FC236}">
                <a16:creationId xmlns:a16="http://schemas.microsoft.com/office/drawing/2014/main" id="{E7A6C99D-5317-7132-513A-4496D9BCA4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764685" y="6335767"/>
            <a:ext cx="3127897" cy="3127897"/>
          </a:xfrm>
          <a:prstGeom prst="rect">
            <a:avLst/>
          </a:prstGeom>
        </p:spPr>
      </p:pic>
      <p:pic>
        <p:nvPicPr>
          <p:cNvPr id="4" name="Picture 4" descr="Stopper">
            <a:extLst>
              <a:ext uri="{FF2B5EF4-FFF2-40B4-BE49-F238E27FC236}">
                <a16:creationId xmlns:a16="http://schemas.microsoft.com/office/drawing/2014/main" id="{6DD65AB9-6BAC-26EB-F161-36F5AAF4D3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678" r="8988"/>
          <a:stretch>
            <a:fillRect/>
          </a:stretch>
        </p:blipFill>
        <p:spPr>
          <a:xfrm>
            <a:off x="24" y="-6963504"/>
            <a:ext cx="9143980" cy="6857999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C21BAE-6866-4C7A-A7EC-C1B2E572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opper">
            <a:extLst>
              <a:ext uri="{FF2B5EF4-FFF2-40B4-BE49-F238E27FC236}">
                <a16:creationId xmlns:a16="http://schemas.microsoft.com/office/drawing/2014/main" id="{F43EA470-6BF8-A6ED-DC7B-1DFA75CC5F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8" r="8988"/>
          <a:stretch>
            <a:fillRect/>
          </a:stretch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7E7D0C94-08B4-48AE-8813-CC4D60294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924" y="609600"/>
            <a:ext cx="4029076" cy="5513767"/>
          </a:xfrm>
          <a:custGeom>
            <a:avLst/>
            <a:gdLst>
              <a:gd name="connsiteX0" fmla="*/ 0 w 5372101"/>
              <a:gd name="connsiteY0" fmla="*/ 0 h 5513767"/>
              <a:gd name="connsiteX1" fmla="*/ 5372101 w 5372101"/>
              <a:gd name="connsiteY1" fmla="*/ 0 h 5513767"/>
              <a:gd name="connsiteX2" fmla="*/ 5372101 w 5372101"/>
              <a:gd name="connsiteY2" fmla="*/ 5513767 h 5513767"/>
              <a:gd name="connsiteX3" fmla="*/ 5363126 w 5372101"/>
              <a:gd name="connsiteY3" fmla="*/ 5512835 h 5513767"/>
              <a:gd name="connsiteX4" fmla="*/ 5316714 w 5372101"/>
              <a:gd name="connsiteY4" fmla="*/ 5491247 h 5513767"/>
              <a:gd name="connsiteX5" fmla="*/ 5198331 w 5372101"/>
              <a:gd name="connsiteY5" fmla="*/ 5470092 h 5513767"/>
              <a:gd name="connsiteX6" fmla="*/ 5150428 w 5372101"/>
              <a:gd name="connsiteY6" fmla="*/ 5472506 h 5513767"/>
              <a:gd name="connsiteX7" fmla="*/ 5085506 w 5372101"/>
              <a:gd name="connsiteY7" fmla="*/ 5468851 h 5513767"/>
              <a:gd name="connsiteX8" fmla="*/ 4968663 w 5372101"/>
              <a:gd name="connsiteY8" fmla="*/ 5470487 h 5513767"/>
              <a:gd name="connsiteX9" fmla="*/ 4815623 w 5372101"/>
              <a:gd name="connsiteY9" fmla="*/ 5458622 h 5513767"/>
              <a:gd name="connsiteX10" fmla="*/ 4716679 w 5372101"/>
              <a:gd name="connsiteY10" fmla="*/ 5405365 h 5513767"/>
              <a:gd name="connsiteX11" fmla="*/ 4704891 w 5372101"/>
              <a:gd name="connsiteY11" fmla="*/ 5411529 h 5513767"/>
              <a:gd name="connsiteX12" fmla="*/ 4630496 w 5372101"/>
              <a:gd name="connsiteY12" fmla="*/ 5396532 h 5513767"/>
              <a:gd name="connsiteX13" fmla="*/ 4506964 w 5372101"/>
              <a:gd name="connsiteY13" fmla="*/ 5396685 h 5513767"/>
              <a:gd name="connsiteX14" fmla="*/ 4427135 w 5372101"/>
              <a:gd name="connsiteY14" fmla="*/ 5358585 h 5513767"/>
              <a:gd name="connsiteX15" fmla="*/ 4028338 w 5372101"/>
              <a:gd name="connsiteY15" fmla="*/ 5313494 h 5513767"/>
              <a:gd name="connsiteX16" fmla="*/ 4015367 w 5372101"/>
              <a:gd name="connsiteY16" fmla="*/ 5320766 h 5513767"/>
              <a:gd name="connsiteX17" fmla="*/ 4002837 w 5372101"/>
              <a:gd name="connsiteY17" fmla="*/ 5322294 h 5513767"/>
              <a:gd name="connsiteX18" fmla="*/ 3997650 w 5372101"/>
              <a:gd name="connsiteY18" fmla="*/ 5329513 h 5513767"/>
              <a:gd name="connsiteX19" fmla="*/ 3991991 w 5372101"/>
              <a:gd name="connsiteY19" fmla="*/ 5331908 h 5513767"/>
              <a:gd name="connsiteX20" fmla="*/ 3925210 w 5372101"/>
              <a:gd name="connsiteY20" fmla="*/ 5319395 h 5513767"/>
              <a:gd name="connsiteX21" fmla="*/ 3837014 w 5372101"/>
              <a:gd name="connsiteY21" fmla="*/ 5289023 h 5513767"/>
              <a:gd name="connsiteX22" fmla="*/ 3798765 w 5372101"/>
              <a:gd name="connsiteY22" fmla="*/ 5299431 h 5513767"/>
              <a:gd name="connsiteX23" fmla="*/ 3792144 w 5372101"/>
              <a:gd name="connsiteY23" fmla="*/ 5301616 h 5513767"/>
              <a:gd name="connsiteX24" fmla="*/ 3766249 w 5372101"/>
              <a:gd name="connsiteY24" fmla="*/ 5301869 h 5513767"/>
              <a:gd name="connsiteX25" fmla="*/ 3718651 w 5372101"/>
              <a:gd name="connsiteY25" fmla="*/ 5320541 h 5513767"/>
              <a:gd name="connsiteX26" fmla="*/ 3671207 w 5372101"/>
              <a:gd name="connsiteY26" fmla="*/ 5318046 h 5513767"/>
              <a:gd name="connsiteX27" fmla="*/ 3446863 w 5372101"/>
              <a:gd name="connsiteY27" fmla="*/ 5294348 h 5513767"/>
              <a:gd name="connsiteX28" fmla="*/ 3312000 w 5372101"/>
              <a:gd name="connsiteY28" fmla="*/ 5286923 h 5513767"/>
              <a:gd name="connsiteX29" fmla="*/ 3259756 w 5372101"/>
              <a:gd name="connsiteY29" fmla="*/ 5294712 h 5513767"/>
              <a:gd name="connsiteX30" fmla="*/ 3187481 w 5372101"/>
              <a:gd name="connsiteY30" fmla="*/ 5298457 h 5513767"/>
              <a:gd name="connsiteX31" fmla="*/ 3124115 w 5372101"/>
              <a:gd name="connsiteY31" fmla="*/ 5294626 h 5513767"/>
              <a:gd name="connsiteX32" fmla="*/ 3099907 w 5372101"/>
              <a:gd name="connsiteY32" fmla="*/ 5302443 h 5513767"/>
              <a:gd name="connsiteX33" fmla="*/ 3017494 w 5372101"/>
              <a:gd name="connsiteY33" fmla="*/ 5301439 h 5513767"/>
              <a:gd name="connsiteX34" fmla="*/ 3010848 w 5372101"/>
              <a:gd name="connsiteY34" fmla="*/ 5307225 h 5513767"/>
              <a:gd name="connsiteX35" fmla="*/ 2994286 w 5372101"/>
              <a:gd name="connsiteY35" fmla="*/ 5309060 h 5513767"/>
              <a:gd name="connsiteX36" fmla="*/ 2988160 w 5372101"/>
              <a:gd name="connsiteY36" fmla="*/ 5310041 h 5513767"/>
              <a:gd name="connsiteX37" fmla="*/ 2984260 w 5372101"/>
              <a:gd name="connsiteY37" fmla="*/ 5307528 h 5513767"/>
              <a:gd name="connsiteX38" fmla="*/ 2979127 w 5372101"/>
              <a:gd name="connsiteY38" fmla="*/ 5308389 h 5513767"/>
              <a:gd name="connsiteX39" fmla="*/ 2978660 w 5372101"/>
              <a:gd name="connsiteY39" fmla="*/ 5311563 h 5513767"/>
              <a:gd name="connsiteX40" fmla="*/ 2946326 w 5372101"/>
              <a:gd name="connsiteY40" fmla="*/ 5316745 h 5513767"/>
              <a:gd name="connsiteX41" fmla="*/ 2713134 w 5372101"/>
              <a:gd name="connsiteY41" fmla="*/ 5331381 h 5513767"/>
              <a:gd name="connsiteX42" fmla="*/ 2352072 w 5372101"/>
              <a:gd name="connsiteY42" fmla="*/ 5342761 h 5513767"/>
              <a:gd name="connsiteX43" fmla="*/ 2260922 w 5372101"/>
              <a:gd name="connsiteY43" fmla="*/ 5328122 h 5513767"/>
              <a:gd name="connsiteX44" fmla="*/ 2178497 w 5372101"/>
              <a:gd name="connsiteY44" fmla="*/ 5351065 h 5513767"/>
              <a:gd name="connsiteX45" fmla="*/ 2034408 w 5372101"/>
              <a:gd name="connsiteY45" fmla="*/ 5307958 h 5513767"/>
              <a:gd name="connsiteX46" fmla="*/ 1831505 w 5372101"/>
              <a:gd name="connsiteY46" fmla="*/ 5312691 h 5513767"/>
              <a:gd name="connsiteX47" fmla="*/ 1710387 w 5372101"/>
              <a:gd name="connsiteY47" fmla="*/ 5308705 h 5513767"/>
              <a:gd name="connsiteX48" fmla="*/ 1664816 w 5372101"/>
              <a:gd name="connsiteY48" fmla="*/ 5296479 h 5513767"/>
              <a:gd name="connsiteX49" fmla="*/ 1600883 w 5372101"/>
              <a:gd name="connsiteY49" fmla="*/ 5286607 h 5513767"/>
              <a:gd name="connsiteX50" fmla="*/ 1488397 w 5372101"/>
              <a:gd name="connsiteY50" fmla="*/ 5260898 h 5513767"/>
              <a:gd name="connsiteX51" fmla="*/ 1336670 w 5372101"/>
              <a:gd name="connsiteY51" fmla="*/ 5240770 h 5513767"/>
              <a:gd name="connsiteX52" fmla="*/ 1224297 w 5372101"/>
              <a:gd name="connsiteY52" fmla="*/ 5271845 h 5513767"/>
              <a:gd name="connsiteX53" fmla="*/ 1214830 w 5372101"/>
              <a:gd name="connsiteY53" fmla="*/ 5263450 h 5513767"/>
              <a:gd name="connsiteX54" fmla="*/ 1138181 w 5372101"/>
              <a:gd name="connsiteY54" fmla="*/ 5262590 h 5513767"/>
              <a:gd name="connsiteX55" fmla="*/ 943575 w 5372101"/>
              <a:gd name="connsiteY55" fmla="*/ 5290808 h 5513767"/>
              <a:gd name="connsiteX56" fmla="*/ 529813 w 5372101"/>
              <a:gd name="connsiteY56" fmla="*/ 5218555 h 5513767"/>
              <a:gd name="connsiteX57" fmla="*/ 519546 w 5372101"/>
              <a:gd name="connsiteY57" fmla="*/ 5208845 h 5513767"/>
              <a:gd name="connsiteX58" fmla="*/ 507906 w 5372101"/>
              <a:gd name="connsiteY58" fmla="*/ 5204779 h 5513767"/>
              <a:gd name="connsiteX59" fmla="*/ 505153 w 5372101"/>
              <a:gd name="connsiteY59" fmla="*/ 5196726 h 5513767"/>
              <a:gd name="connsiteX60" fmla="*/ 500429 w 5372101"/>
              <a:gd name="connsiteY60" fmla="*/ 5193241 h 5513767"/>
              <a:gd name="connsiteX61" fmla="*/ 431923 w 5372101"/>
              <a:gd name="connsiteY61" fmla="*/ 5191553 h 5513767"/>
              <a:gd name="connsiteX62" fmla="*/ 337115 w 5372101"/>
              <a:gd name="connsiteY62" fmla="*/ 5202714 h 5513767"/>
              <a:gd name="connsiteX63" fmla="*/ 303383 w 5372101"/>
              <a:gd name="connsiteY63" fmla="*/ 5184750 h 5513767"/>
              <a:gd name="connsiteX64" fmla="*/ 297664 w 5372101"/>
              <a:gd name="connsiteY64" fmla="*/ 5181269 h 5513767"/>
              <a:gd name="connsiteX65" fmla="*/ 272701 w 5372101"/>
              <a:gd name="connsiteY65" fmla="*/ 5175678 h 5513767"/>
              <a:gd name="connsiteX66" fmla="*/ 268242 w 5372101"/>
              <a:gd name="connsiteY66" fmla="*/ 5163678 h 5513767"/>
              <a:gd name="connsiteX67" fmla="*/ 232517 w 5372101"/>
              <a:gd name="connsiteY67" fmla="*/ 5147792 h 5513767"/>
              <a:gd name="connsiteX68" fmla="*/ 185851 w 5372101"/>
              <a:gd name="connsiteY68" fmla="*/ 5140408 h 5513767"/>
              <a:gd name="connsiteX69" fmla="*/ 20337 w 5372101"/>
              <a:gd name="connsiteY69" fmla="*/ 5113040 h 5513767"/>
              <a:gd name="connsiteX70" fmla="*/ 0 w 5372101"/>
              <a:gd name="connsiteY70" fmla="*/ 5112243 h 551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5372101" h="5513767">
                <a:moveTo>
                  <a:pt x="0" y="0"/>
                </a:moveTo>
                <a:lnTo>
                  <a:pt x="5372101" y="0"/>
                </a:lnTo>
                <a:lnTo>
                  <a:pt x="5372101" y="5513767"/>
                </a:lnTo>
                <a:lnTo>
                  <a:pt x="5363126" y="5512835"/>
                </a:lnTo>
                <a:cubicBezTo>
                  <a:pt x="5345779" y="5509071"/>
                  <a:pt x="5329767" y="5502649"/>
                  <a:pt x="5316714" y="5491247"/>
                </a:cubicBezTo>
                <a:cubicBezTo>
                  <a:pt x="5295689" y="5478131"/>
                  <a:pt x="5219502" y="5459909"/>
                  <a:pt x="5198331" y="5470092"/>
                </a:cubicBezTo>
                <a:cubicBezTo>
                  <a:pt x="5181052" y="5469102"/>
                  <a:pt x="5165047" y="5459569"/>
                  <a:pt x="5150428" y="5472506"/>
                </a:cubicBezTo>
                <a:cubicBezTo>
                  <a:pt x="5129562" y="5487248"/>
                  <a:pt x="5088050" y="5445894"/>
                  <a:pt x="5085506" y="5468851"/>
                </a:cubicBezTo>
                <a:cubicBezTo>
                  <a:pt x="5055692" y="5440170"/>
                  <a:pt x="5006122" y="5469577"/>
                  <a:pt x="4968663" y="5470487"/>
                </a:cubicBezTo>
                <a:cubicBezTo>
                  <a:pt x="4947085" y="5444049"/>
                  <a:pt x="4889767" y="5472037"/>
                  <a:pt x="4815623" y="5458622"/>
                </a:cubicBezTo>
                <a:cubicBezTo>
                  <a:pt x="4792418" y="5428488"/>
                  <a:pt x="4765548" y="5449887"/>
                  <a:pt x="4716679" y="5405365"/>
                </a:cubicBezTo>
                <a:cubicBezTo>
                  <a:pt x="4713235" y="5407807"/>
                  <a:pt x="4709266" y="5409883"/>
                  <a:pt x="4704891" y="5411529"/>
                </a:cubicBezTo>
                <a:cubicBezTo>
                  <a:pt x="4679473" y="5421092"/>
                  <a:pt x="4646164" y="5414379"/>
                  <a:pt x="4630496" y="5396532"/>
                </a:cubicBezTo>
                <a:cubicBezTo>
                  <a:pt x="4590205" y="5365061"/>
                  <a:pt x="4548419" y="5412094"/>
                  <a:pt x="4506964" y="5396685"/>
                </a:cubicBezTo>
                <a:lnTo>
                  <a:pt x="4427135" y="5358585"/>
                </a:lnTo>
                <a:cubicBezTo>
                  <a:pt x="4319267" y="5308575"/>
                  <a:pt x="4152341" y="5340956"/>
                  <a:pt x="4028338" y="5313494"/>
                </a:cubicBezTo>
                <a:lnTo>
                  <a:pt x="4015367" y="5320766"/>
                </a:lnTo>
                <a:lnTo>
                  <a:pt x="4002837" y="5322294"/>
                </a:lnTo>
                <a:lnTo>
                  <a:pt x="3997650" y="5329513"/>
                </a:lnTo>
                <a:lnTo>
                  <a:pt x="3991991" y="5331908"/>
                </a:lnTo>
                <a:cubicBezTo>
                  <a:pt x="3969659" y="5338581"/>
                  <a:pt x="3978880" y="5316131"/>
                  <a:pt x="3925210" y="5319395"/>
                </a:cubicBezTo>
                <a:cubicBezTo>
                  <a:pt x="3947765" y="5277139"/>
                  <a:pt x="3837331" y="5338342"/>
                  <a:pt x="3837014" y="5289023"/>
                </a:cubicBezTo>
                <a:cubicBezTo>
                  <a:pt x="3824001" y="5291376"/>
                  <a:pt x="3811407" y="5295212"/>
                  <a:pt x="3798765" y="5299431"/>
                </a:cubicBezTo>
                <a:lnTo>
                  <a:pt x="3792144" y="5301616"/>
                </a:lnTo>
                <a:lnTo>
                  <a:pt x="3766249" y="5301869"/>
                </a:lnTo>
                <a:lnTo>
                  <a:pt x="3718651" y="5320541"/>
                </a:lnTo>
                <a:cubicBezTo>
                  <a:pt x="3703968" y="5321892"/>
                  <a:pt x="3688308" y="5321427"/>
                  <a:pt x="3671207" y="5318046"/>
                </a:cubicBezTo>
                <a:cubicBezTo>
                  <a:pt x="3616458" y="5288532"/>
                  <a:pt x="3514048" y="5333307"/>
                  <a:pt x="3446863" y="5294348"/>
                </a:cubicBezTo>
                <a:cubicBezTo>
                  <a:pt x="3420930" y="5283822"/>
                  <a:pt x="3333157" y="5274511"/>
                  <a:pt x="3312000" y="5286923"/>
                </a:cubicBezTo>
                <a:cubicBezTo>
                  <a:pt x="3292759" y="5287903"/>
                  <a:pt x="3273112" y="5280334"/>
                  <a:pt x="3259756" y="5294712"/>
                </a:cubicBezTo>
                <a:cubicBezTo>
                  <a:pt x="3239905" y="5311572"/>
                  <a:pt x="3185410" y="5275588"/>
                  <a:pt x="3187481" y="5298457"/>
                </a:cubicBezTo>
                <a:cubicBezTo>
                  <a:pt x="3168018" y="5286036"/>
                  <a:pt x="3146200" y="5288458"/>
                  <a:pt x="3124115" y="5294626"/>
                </a:cubicBezTo>
                <a:lnTo>
                  <a:pt x="3099907" y="5302443"/>
                </a:lnTo>
                <a:lnTo>
                  <a:pt x="3017494" y="5301439"/>
                </a:lnTo>
                <a:lnTo>
                  <a:pt x="3010848" y="5307225"/>
                </a:lnTo>
                <a:lnTo>
                  <a:pt x="2994286" y="5309060"/>
                </a:lnTo>
                <a:lnTo>
                  <a:pt x="2988160" y="5310041"/>
                </a:lnTo>
                <a:lnTo>
                  <a:pt x="2984260" y="5307528"/>
                </a:lnTo>
                <a:cubicBezTo>
                  <a:pt x="2981957" y="5306419"/>
                  <a:pt x="2980273" y="5306402"/>
                  <a:pt x="2979127" y="5308389"/>
                </a:cubicBezTo>
                <a:cubicBezTo>
                  <a:pt x="2978971" y="5309447"/>
                  <a:pt x="2978816" y="5310505"/>
                  <a:pt x="2978660" y="5311563"/>
                </a:cubicBezTo>
                <a:lnTo>
                  <a:pt x="2946326" y="5316745"/>
                </a:lnTo>
                <a:lnTo>
                  <a:pt x="2713134" y="5331381"/>
                </a:lnTo>
                <a:cubicBezTo>
                  <a:pt x="2610698" y="5372328"/>
                  <a:pt x="2466037" y="5325762"/>
                  <a:pt x="2352072" y="5342761"/>
                </a:cubicBezTo>
                <a:cubicBezTo>
                  <a:pt x="2293501" y="5293708"/>
                  <a:pt x="2324138" y="5338538"/>
                  <a:pt x="2260922" y="5328122"/>
                </a:cubicBezTo>
                <a:cubicBezTo>
                  <a:pt x="2275681" y="5372347"/>
                  <a:pt x="2185007" y="5301703"/>
                  <a:pt x="2178497" y="5351065"/>
                </a:cubicBezTo>
                <a:cubicBezTo>
                  <a:pt x="2133294" y="5337229"/>
                  <a:pt x="2097074" y="5300208"/>
                  <a:pt x="2034408" y="5307958"/>
                </a:cubicBezTo>
                <a:cubicBezTo>
                  <a:pt x="1981894" y="5332879"/>
                  <a:pt x="1896288" y="5279365"/>
                  <a:pt x="1831505" y="5312691"/>
                </a:cubicBezTo>
                <a:cubicBezTo>
                  <a:pt x="1807063" y="5321035"/>
                  <a:pt x="1727674" y="5322925"/>
                  <a:pt x="1710387" y="5308705"/>
                </a:cubicBezTo>
                <a:cubicBezTo>
                  <a:pt x="1693367" y="5306094"/>
                  <a:pt x="1674901" y="5312009"/>
                  <a:pt x="1664816" y="5296479"/>
                </a:cubicBezTo>
                <a:cubicBezTo>
                  <a:pt x="1649255" y="5277912"/>
                  <a:pt x="1596152" y="5309335"/>
                  <a:pt x="1600883" y="5286607"/>
                </a:cubicBezTo>
                <a:cubicBezTo>
                  <a:pt x="1563066" y="5308189"/>
                  <a:pt x="1524339" y="5269513"/>
                  <a:pt x="1488397" y="5260898"/>
                </a:cubicBezTo>
                <a:cubicBezTo>
                  <a:pt x="1459246" y="5282011"/>
                  <a:pt x="1412580" y="5243108"/>
                  <a:pt x="1336670" y="5240770"/>
                </a:cubicBezTo>
                <a:cubicBezTo>
                  <a:pt x="1304792" y="5265122"/>
                  <a:pt x="1285508" y="5238878"/>
                  <a:pt x="1224297" y="5271845"/>
                </a:cubicBezTo>
                <a:cubicBezTo>
                  <a:pt x="1221731" y="5268771"/>
                  <a:pt x="1218543" y="5265944"/>
                  <a:pt x="1214830" y="5263450"/>
                </a:cubicBezTo>
                <a:cubicBezTo>
                  <a:pt x="1193241" y="5248952"/>
                  <a:pt x="1158925" y="5248567"/>
                  <a:pt x="1138181" y="5262590"/>
                </a:cubicBezTo>
                <a:lnTo>
                  <a:pt x="943575" y="5290808"/>
                </a:lnTo>
                <a:cubicBezTo>
                  <a:pt x="823587" y="5316899"/>
                  <a:pt x="658340" y="5217603"/>
                  <a:pt x="529813" y="5218555"/>
                </a:cubicBezTo>
                <a:lnTo>
                  <a:pt x="519546" y="5208845"/>
                </a:lnTo>
                <a:lnTo>
                  <a:pt x="507906" y="5204779"/>
                </a:lnTo>
                <a:lnTo>
                  <a:pt x="505153" y="5196726"/>
                </a:lnTo>
                <a:lnTo>
                  <a:pt x="500429" y="5193241"/>
                </a:lnTo>
                <a:cubicBezTo>
                  <a:pt x="480923" y="5182176"/>
                  <a:pt x="482807" y="5205793"/>
                  <a:pt x="431923" y="5191553"/>
                </a:cubicBezTo>
                <a:cubicBezTo>
                  <a:pt x="440499" y="5237077"/>
                  <a:pt x="352872" y="5155083"/>
                  <a:pt x="337115" y="5202714"/>
                </a:cubicBezTo>
                <a:cubicBezTo>
                  <a:pt x="325265" y="5197752"/>
                  <a:pt x="314288" y="5191441"/>
                  <a:pt x="303383" y="5184750"/>
                </a:cubicBezTo>
                <a:lnTo>
                  <a:pt x="297664" y="5181269"/>
                </a:lnTo>
                <a:lnTo>
                  <a:pt x="272701" y="5175678"/>
                </a:lnTo>
                <a:lnTo>
                  <a:pt x="268242" y="5163678"/>
                </a:lnTo>
                <a:lnTo>
                  <a:pt x="232517" y="5147792"/>
                </a:lnTo>
                <a:cubicBezTo>
                  <a:pt x="218741" y="5143453"/>
                  <a:pt x="203450" y="5140668"/>
                  <a:pt x="185851" y="5140408"/>
                </a:cubicBezTo>
                <a:cubicBezTo>
                  <a:pt x="139207" y="5153337"/>
                  <a:pt x="79723" y="5120316"/>
                  <a:pt x="20337" y="5113040"/>
                </a:cubicBezTo>
                <a:lnTo>
                  <a:pt x="0" y="5112243"/>
                </a:lnTo>
                <a:close/>
              </a:path>
            </a:pathLst>
          </a:custGeom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356" y="1071350"/>
            <a:ext cx="3581372" cy="1339382"/>
          </a:xfrm>
        </p:spPr>
        <p:txBody>
          <a:bodyPr>
            <a:normAutofit/>
          </a:bodyPr>
          <a:lstStyle/>
          <a:p>
            <a:pPr algn="ctr"/>
            <a:r>
              <a:rPr lang="hu-HU" sz="3100" dirty="0" err="1"/>
              <a:t>Model</a:t>
            </a:r>
            <a:r>
              <a:rPr lang="hu-HU" sz="3100" dirty="0"/>
              <a:t> </a:t>
            </a:r>
            <a:r>
              <a:rPr lang="hu-HU" sz="3100" dirty="0" err="1"/>
              <a:t>Tuning</a:t>
            </a:r>
            <a:r>
              <a:rPr lang="hu-HU" sz="3100" dirty="0"/>
              <a:t> and </a:t>
            </a:r>
            <a:r>
              <a:rPr lang="hu-HU" sz="3100" dirty="0" err="1"/>
              <a:t>Optimization</a:t>
            </a:r>
            <a:endParaRPr lang="hu-HU" sz="3100" dirty="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F0C518C2-0AA4-470C-87B9-9CBF428F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499" y="399531"/>
            <a:ext cx="1280813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6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989" y="2547257"/>
            <a:ext cx="3343834" cy="3109740"/>
          </a:xfrm>
        </p:spPr>
        <p:txBody>
          <a:bodyPr anchor="ctr">
            <a:normAutofit/>
          </a:bodyPr>
          <a:lstStyle/>
          <a:p>
            <a:r>
              <a:rPr lang="en-US" sz="1600"/>
              <a:t>Pre-trained models were fine-tuned on the dataset.</a:t>
            </a:r>
          </a:p>
          <a:p>
            <a:r>
              <a:rPr lang="en-US" sz="1600"/>
              <a:t>Hyperparameters were tuned empirically using validation data.</a:t>
            </a:r>
          </a:p>
          <a:p>
            <a:r>
              <a:rPr lang="en-US" sz="1600"/>
              <a:t>Regularization is applied via:</a:t>
            </a:r>
          </a:p>
          <a:p>
            <a:pPr lvl="1"/>
            <a:r>
              <a:rPr lang="en-US" sz="1600"/>
              <a:t>Dropout layers in pre-trained models</a:t>
            </a:r>
          </a:p>
          <a:p>
            <a:pPr lvl="1"/>
            <a:r>
              <a:rPr lang="en-US" sz="1600"/>
              <a:t>Weight decay in the optimizer</a:t>
            </a:r>
          </a:p>
          <a:p>
            <a:r>
              <a:rPr lang="en-US" sz="1600"/>
              <a:t>Full cross-validation was avoided due to computational cost.</a:t>
            </a:r>
          </a:p>
        </p:txBody>
      </p:sp>
      <p:graphicFrame>
        <p:nvGraphicFramePr>
          <p:cNvPr id="6" name="Tartalom helye 2">
            <a:extLst>
              <a:ext uri="{FF2B5EF4-FFF2-40B4-BE49-F238E27FC236}">
                <a16:creationId xmlns:a16="http://schemas.microsoft.com/office/drawing/2014/main" id="{B9E4E291-49E1-8AF5-5342-E123F34CB8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4437918"/>
              </p:ext>
            </p:extLst>
          </p:nvPr>
        </p:nvGraphicFramePr>
        <p:xfrm>
          <a:off x="3678789" y="-5684795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D0B4332-763F-E16D-E44D-592928E92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hu-HU">
                <a:solidFill>
                  <a:srgbClr val="FFFFFF"/>
                </a:solidFill>
              </a:rPr>
              <a:t>Summary and Conclusions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B769EF9D-DE66-DE29-AFE7-821E85285E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606854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4" descr="Stopper">
            <a:extLst>
              <a:ext uri="{FF2B5EF4-FFF2-40B4-BE49-F238E27FC236}">
                <a16:creationId xmlns:a16="http://schemas.microsoft.com/office/drawing/2014/main" id="{2A69A10F-EB04-E408-7BF4-D4334E34CBE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678" r="8988"/>
          <a:stretch>
            <a:fillRect/>
          </a:stretch>
        </p:blipFill>
        <p:spPr>
          <a:xfrm>
            <a:off x="20" y="6940067"/>
            <a:ext cx="914398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635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800</Words>
  <Application>Microsoft Office PowerPoint</Application>
  <PresentationFormat>Diavetítés a képernyőre (4:3 oldalarány)</PresentationFormat>
  <Paragraphs>100</Paragraphs>
  <Slides>16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Times New Roman</vt:lpstr>
      <vt:lpstr>Office Theme</vt:lpstr>
      <vt:lpstr>Multimodal Image - Text Retrieval System</vt:lpstr>
      <vt:lpstr>Project Goal</vt:lpstr>
      <vt:lpstr>Classical Approach from the Project Description</vt:lpstr>
      <vt:lpstr>Why We Deviated from the Classical Approach</vt:lpstr>
      <vt:lpstr>High-Level System Overview</vt:lpstr>
      <vt:lpstr>Dataset: Flickr30k</vt:lpstr>
      <vt:lpstr>Image Processing Branch (CNN)</vt:lpstr>
      <vt:lpstr>Text Processing Branch (BERT)</vt:lpstr>
      <vt:lpstr>Projection Head and Shared Embedding Space</vt:lpstr>
      <vt:lpstr>Training with Contrastive Learning</vt:lpstr>
      <vt:lpstr>Why There Is No Classical Classification Layer</vt:lpstr>
      <vt:lpstr>Image Embedding Index</vt:lpstr>
      <vt:lpstr>Inference Pipeline</vt:lpstr>
      <vt:lpstr>Softmax-Based Ranking Output</vt:lpstr>
      <vt:lpstr>Model Tuning and Optimization</vt:lpstr>
      <vt:lpstr>Summary and 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Tóth Bertalan György</cp:lastModifiedBy>
  <cp:revision>11</cp:revision>
  <dcterms:created xsi:type="dcterms:W3CDTF">2013-01-27T09:14:16Z</dcterms:created>
  <dcterms:modified xsi:type="dcterms:W3CDTF">2026-01-07T21:37:44Z</dcterms:modified>
  <cp:category/>
</cp:coreProperties>
</file>